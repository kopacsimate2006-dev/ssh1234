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oicnflILNbcjOnni5beVEf35p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F44AA4-A9FE-46DF-BB19-8E265C2C02A3}">
  <a:tblStyle styleId="{B7F44AA4-A9FE-46DF-BB19-8E265C2C02A3}" styleName="Table_0">
    <a:wholeTbl>
      <a:tcTxStyle b="off" i="off">
        <a:font>
          <a:latin typeface="Grandview Display"/>
          <a:ea typeface="Grandview Display"/>
          <a:cs typeface="Grandview Display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BFB"/>
          </a:solidFill>
        </a:fill>
      </a:tcStyle>
    </a:wholeTbl>
    <a:band1H>
      <a:tcTxStyle/>
      <a:tcStyle>
        <a:fill>
          <a:solidFill>
            <a:srgbClr val="CBD4F7"/>
          </a:solidFill>
        </a:fill>
      </a:tcStyle>
    </a:band1H>
    <a:band2H>
      <a:tcTxStyle/>
    </a:band2H>
    <a:band1V>
      <a:tcTxStyle/>
      <a:tcStyle>
        <a:fill>
          <a:solidFill>
            <a:srgbClr val="CBD4F7"/>
          </a:solidFill>
        </a:fill>
      </a:tcStyle>
    </a:band1V>
    <a:band2V>
      <a:tcTxStyle/>
    </a:band2V>
    <a:lastCol>
      <a:tcTxStyle b="on" i="off">
        <a:font>
          <a:latin typeface="Grandview Display"/>
          <a:ea typeface="Grandview Display"/>
          <a:cs typeface="Grandview Display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randview Display"/>
          <a:ea typeface="Grandview Display"/>
          <a:cs typeface="Grandview Display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randview Display"/>
          <a:ea typeface="Grandview Display"/>
          <a:cs typeface="Grandview Display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randview Display"/>
          <a:ea typeface="Grandview Display"/>
          <a:cs typeface="Grandview Display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7cffa10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47cffa1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type="ctrTitle"/>
          </p:nvPr>
        </p:nvSpPr>
        <p:spPr>
          <a:xfrm>
            <a:off x="912629" y="1371600"/>
            <a:ext cx="5935540" cy="269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" type="subTitle"/>
          </p:nvPr>
        </p:nvSpPr>
        <p:spPr>
          <a:xfrm>
            <a:off x="912629" y="4584879"/>
            <a:ext cx="5935540" cy="128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6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/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912629" y="1709738"/>
            <a:ext cx="9214884" cy="31599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912628" y="5018567"/>
            <a:ext cx="7907079" cy="1073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74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66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" type="body"/>
          </p:nvPr>
        </p:nvSpPr>
        <p:spPr>
          <a:xfrm>
            <a:off x="914400" y="2849526"/>
            <a:ext cx="5105400" cy="3210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2" type="body"/>
          </p:nvPr>
        </p:nvSpPr>
        <p:spPr>
          <a:xfrm>
            <a:off x="6172200" y="2849526"/>
            <a:ext cx="5105400" cy="321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912628" y="1371599"/>
            <a:ext cx="10442760" cy="939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912628" y="2311353"/>
            <a:ext cx="5084947" cy="695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912628" y="3006725"/>
            <a:ext cx="5084947" cy="318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3" type="body"/>
          </p:nvPr>
        </p:nvSpPr>
        <p:spPr>
          <a:xfrm>
            <a:off x="6172200" y="2311353"/>
            <a:ext cx="5183188" cy="695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4" type="body"/>
          </p:nvPr>
        </p:nvSpPr>
        <p:spPr>
          <a:xfrm>
            <a:off x="6172200" y="3006725"/>
            <a:ext cx="5183188" cy="318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type="title"/>
          </p:nvPr>
        </p:nvSpPr>
        <p:spPr>
          <a:xfrm>
            <a:off x="912628" y="1463038"/>
            <a:ext cx="3859397" cy="1471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3286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36"/>
              <a:buChar char="•"/>
              <a:defRPr sz="2800"/>
            </a:lvl1pPr>
            <a:lvl2pPr indent="-361188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  <a:defRPr sz="2400"/>
            </a:lvl2pPr>
            <a:lvl3pPr indent="-33909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  <a:defRPr sz="2000"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 sz="1800"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8" name="Google Shape;58;p23"/>
          <p:cNvSpPr txBox="1"/>
          <p:nvPr>
            <p:ph idx="2" type="body"/>
          </p:nvPr>
        </p:nvSpPr>
        <p:spPr>
          <a:xfrm>
            <a:off x="912628" y="2934586"/>
            <a:ext cx="3859397" cy="2934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44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type="title"/>
          </p:nvPr>
        </p:nvSpPr>
        <p:spPr>
          <a:xfrm>
            <a:off x="912628" y="1463038"/>
            <a:ext cx="3859397" cy="1471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912628" y="2934586"/>
            <a:ext cx="3859397" cy="2934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44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4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/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" type="body"/>
          </p:nvPr>
        </p:nvSpPr>
        <p:spPr>
          <a:xfrm rot="5400000">
            <a:off x="4404670" y="-931100"/>
            <a:ext cx="3382658" cy="10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type="title"/>
          </p:nvPr>
        </p:nvSpPr>
        <p:spPr>
          <a:xfrm rot="5400000">
            <a:off x="7888006" y="2711168"/>
            <a:ext cx="4775865" cy="2155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" type="body"/>
          </p:nvPr>
        </p:nvSpPr>
        <p:spPr>
          <a:xfrm rot="5400000">
            <a:off x="2566296" y="-326999"/>
            <a:ext cx="4775866" cy="8232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b="0" i="0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28041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6992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05943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05943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cxnSp>
        <p:nvCxnSpPr>
          <p:cNvPr id="11" name="Google Shape;11;p15"/>
          <p:cNvCxnSpPr/>
          <p:nvPr/>
        </p:nvCxnSpPr>
        <p:spPr>
          <a:xfrm>
            <a:off x="990600" y="1031001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76">
          <p15:clr>
            <a:srgbClr val="F26B43"/>
          </p15:clr>
        </p15:guide>
        <p15:guide id="4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909021" y="1306606"/>
            <a:ext cx="6980274" cy="2996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hu-HU" sz="6600"/>
              <a:t>Horizont Utazási Iroda</a:t>
            </a:r>
            <a:endParaRPr sz="6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hu-HU" sz="6600"/>
              <a:t>hálózati terv</a:t>
            </a:r>
            <a:endParaRPr sz="6600"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909021" y="5114033"/>
            <a:ext cx="10431686" cy="950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KÉSZÍTETTE:</a:t>
            </a:r>
            <a:r>
              <a:rPr b="0" lang="hu-HU">
                <a:latin typeface="Arial"/>
                <a:ea typeface="Arial"/>
                <a:cs typeface="Arial"/>
                <a:sym typeface="Arial"/>
              </a:rPr>
              <a:t> BALTA GERGŐ, KOPÁCSI MÁTÉ, LÉMAN GERGŐ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1340707" y="6611779"/>
            <a:ext cx="9116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hu-HU" sz="1000" u="none" cap="none" strike="noStrike">
                <a:solidFill>
                  <a:srgbClr val="262626"/>
                </a:solidFill>
                <a:latin typeface="Play"/>
                <a:ea typeface="Play"/>
                <a:cs typeface="Play"/>
                <a:sym typeface="Play"/>
              </a:rPr>
              <a:t>2026. 05. 26.</a:t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2230" y="138860"/>
            <a:ext cx="22764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575" y="858848"/>
            <a:ext cx="5686425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hu-HU"/>
              <a:t>Rólunk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914399" y="2185519"/>
            <a:ext cx="6036733" cy="248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2"/>
              <a:buChar char="•"/>
            </a:pPr>
            <a:r>
              <a:rPr lang="hu-HU" sz="1600"/>
              <a:t>Mi vagyunk a</a:t>
            </a:r>
            <a:r>
              <a:rPr i="1" lang="hu-HU" sz="1600"/>
              <a:t> </a:t>
            </a:r>
            <a:r>
              <a:rPr b="1" i="1" lang="hu-HU" sz="1600"/>
              <a:t>Subnet Squad</a:t>
            </a:r>
            <a:r>
              <a:rPr i="1" lang="hu-HU" sz="1600"/>
              <a:t>, </a:t>
            </a:r>
            <a:r>
              <a:rPr lang="hu-HU" sz="1600"/>
              <a:t>csapatunk hálózati infrastruktúrák tervezésére, kiépítésére és optimalizálására specializálódott. Fő célunk, hogy </a:t>
            </a:r>
            <a:r>
              <a:rPr b="1" lang="hu-HU" sz="1600"/>
              <a:t>megbízható,</a:t>
            </a:r>
            <a:r>
              <a:rPr lang="hu-HU" sz="1600"/>
              <a:t> skálázható és </a:t>
            </a:r>
            <a:r>
              <a:rPr b="1" lang="hu-HU" sz="1600"/>
              <a:t>biztonságos</a:t>
            </a:r>
            <a:r>
              <a:rPr lang="hu-HU" sz="1600"/>
              <a:t> hálózati megoldásokat biztosítsunk kis- és középvállalkozások számára. Munkánk során kiemelt figyelmet fordítunk a modern technológiák alkalmazására, a redundancia biztosítására, valamint a hálózatok </a:t>
            </a:r>
            <a:r>
              <a:rPr b="1" lang="hu-HU" sz="1600"/>
              <a:t>hatékony</a:t>
            </a:r>
            <a:r>
              <a:rPr lang="hu-HU" sz="1600"/>
              <a:t> és </a:t>
            </a:r>
            <a:r>
              <a:rPr b="1" lang="hu-HU" sz="1600"/>
              <a:t>stabil</a:t>
            </a:r>
            <a:r>
              <a:rPr lang="hu-HU" sz="1600"/>
              <a:t> működésére.</a:t>
            </a:r>
            <a:endParaRPr/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3903" y="2438604"/>
            <a:ext cx="4823513" cy="2707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2230" y="138860"/>
            <a:ext cx="227647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3310319" y="6590999"/>
            <a:ext cx="316668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hu-HU" sz="1100">
                <a:solidFill>
                  <a:srgbClr val="3D3D3D"/>
                </a:solidFill>
                <a:latin typeface="Play"/>
                <a:ea typeface="Play"/>
                <a:cs typeface="Play"/>
                <a:sym typeface="Play"/>
              </a:rPr>
              <a:t>A csapatmunka</a:t>
            </a:r>
            <a:endParaRPr sz="1100">
              <a:solidFill>
                <a:srgbClr val="3D3D3D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99" name="Google Shape;99;p2"/>
          <p:cNvGraphicFramePr/>
          <p:nvPr/>
        </p:nvGraphicFramePr>
        <p:xfrm>
          <a:off x="731628" y="445143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{B7F44AA4-A9FE-46DF-BB19-8E265C2C02A3}</a:tableStyleId>
              </a:tblPr>
              <a:tblGrid>
                <a:gridCol w="3109750"/>
                <a:gridCol w="3109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1200" u="none" cap="none" strike="noStrike">
                          <a:solidFill>
                            <a:schemeClr val="dk1"/>
                          </a:solidFill>
                        </a:rPr>
                        <a:t>A hálózat megtervezése Packet Tracerben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200" u="none" cap="none" strike="noStrike">
                          <a:solidFill>
                            <a:schemeClr val="dk1"/>
                          </a:solidFill>
                        </a:rPr>
                        <a:t>Balta Gergő, Kopácsi Máté</a:t>
                      </a:r>
                      <a:endParaRPr b="0"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26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A hálózat megépítése, felprogramozása, kábelezése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Balta Gergő, Kopácsi Máté, Léman Gergő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26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A DHCP/DNS (Windows) server telepítése és beállítása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Balta Gergő, Kopácsi Máté, Léman Gergő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18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A FileServer (Linux) telepítése és beállítása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Balta Gergő, Kopácsi Máté, Léman Gergő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1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A HomeRouter felprogramozása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Balta Gergő, Léman Gergő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26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További Windows szerver beállítások (AD, IIS, automatizát mentés)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Balta Gergő, Kopácsi Máté, Léman Gergő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1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Dokumentáció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Balta Gergő, Léman Gergő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  <a:tr h="13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Videókészítés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1200" u="none" cap="none" strike="noStrike">
                          <a:solidFill>
                            <a:schemeClr val="dk1"/>
                          </a:solidFill>
                        </a:rPr>
                        <a:t>Balta Gergő, Kopácsi Máté, Léman Gergő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hu-HU"/>
              <a:t>DNS szerver </a:t>
            </a:r>
            <a:r>
              <a:rPr b="1" lang="hu-HU" sz="1600">
                <a:solidFill>
                  <a:schemeClr val="accent1"/>
                </a:solidFill>
              </a:rPr>
              <a:t>Windows szerver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105" name="Google Shape;105;p9"/>
          <p:cNvSpPr txBox="1"/>
          <p:nvPr>
            <p:ph idx="1" type="body"/>
          </p:nvPr>
        </p:nvSpPr>
        <p:spPr>
          <a:xfrm>
            <a:off x="640080" y="2633472"/>
            <a:ext cx="7159368" cy="3532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Hosztnevek ↔ IP-címek feloldása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Egyszerűbb hálózati elérés (nem kell IP-t megjegyezni)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A rekordok: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b="1" i="1" lang="hu-HU"/>
              <a:t>windows.server.kozpont</a:t>
            </a:r>
            <a:r>
              <a:rPr lang="hu-HU"/>
              <a:t> → 192.168.1.200     </a:t>
            </a:r>
            <a:r>
              <a:rPr b="1" i="1" lang="hu-HU"/>
              <a:t>          linux.server.kozpont</a:t>
            </a:r>
            <a:r>
              <a:rPr lang="hu-HU"/>
              <a:t> </a:t>
            </a:r>
            <a:r>
              <a:rPr lang="hu-HU" sz="2000"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hu-HU"/>
              <a:t> 192.168.1.250 </a:t>
            </a:r>
            <a:endParaRPr/>
          </a:p>
        </p:txBody>
      </p:sp>
      <p:sp>
        <p:nvSpPr>
          <p:cNvPr id="106" name="Google Shape;106;p9"/>
          <p:cNvSpPr txBox="1"/>
          <p:nvPr/>
        </p:nvSpPr>
        <p:spPr>
          <a:xfrm>
            <a:off x="7462215" y="5863261"/>
            <a:ext cx="47561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hu-HU" sz="1600">
                <a:solidFill>
                  <a:srgbClr val="3D3D3D"/>
                </a:solidFill>
                <a:latin typeface="Play"/>
                <a:ea typeface="Play"/>
                <a:cs typeface="Play"/>
                <a:sym typeface="Play"/>
              </a:rPr>
              <a:t>A DNS szerver beállításai a Windows szerveren</a:t>
            </a:r>
            <a:endParaRPr i="1" sz="1600">
              <a:solidFill>
                <a:srgbClr val="3D3D3D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A képen szöveg, képernyőkép, szoftver, képernyő látható&#10;&#10;Lehet, hogy az AI által létrehozott tartalom helytelen."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1949424"/>
            <a:ext cx="51054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2230" y="138860"/>
            <a:ext cx="22764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hu-HU"/>
              <a:t>EtherChannel</a:t>
            </a:r>
            <a:endParaRPr/>
          </a:p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640080" y="2633472"/>
            <a:ext cx="60655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Két switch között került kialakításra (</a:t>
            </a:r>
            <a:r>
              <a:rPr i="1" lang="hu-HU"/>
              <a:t>.1-es háló</a:t>
            </a:r>
            <a:r>
              <a:rPr lang="hu-HU"/>
              <a:t>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Az </a:t>
            </a:r>
            <a:r>
              <a:rPr b="1" i="1" lang="hu-HU"/>
              <a:t>Fa0/7, Fa0/8 és Fa0/9 portok</a:t>
            </a:r>
            <a:r>
              <a:rPr lang="hu-HU"/>
              <a:t> összefogásával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Egyetlen </a:t>
            </a:r>
            <a:r>
              <a:rPr b="1" i="1" lang="hu-HU"/>
              <a:t>logikai kapcsolatként működik</a:t>
            </a:r>
            <a:r>
              <a:rPr i="1" lang="hu-HU"/>
              <a:t> </a:t>
            </a:r>
            <a:endParaRPr i="1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Növeli a </a:t>
            </a:r>
            <a:r>
              <a:rPr b="1" i="1" lang="hu-HU"/>
              <a:t>sávszélességet</a:t>
            </a:r>
            <a:r>
              <a:rPr i="1" lang="hu-HU"/>
              <a:t> </a:t>
            </a:r>
            <a:endParaRPr i="1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Javítja a </a:t>
            </a:r>
            <a:r>
              <a:rPr b="1" i="1" lang="hu-HU"/>
              <a:t>hálózat rendelkezésre állását</a:t>
            </a:r>
            <a:r>
              <a:rPr i="1" lang="hu-HU"/>
              <a:t> </a:t>
            </a:r>
            <a:endParaRPr i="1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hu-HU"/>
              <a:t>Hibatűrőbb kapcsolat (ha egy link kiesik, a többi működik tovább)</a:t>
            </a:r>
            <a:endParaRPr/>
          </a:p>
          <a:p>
            <a:pPr indent="-11811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</a:pPr>
            <a:r>
              <a:t/>
            </a:r>
            <a:endParaRPr/>
          </a:p>
        </p:txBody>
      </p:sp>
      <p:pic>
        <p:nvPicPr>
          <p:cNvPr descr="A képen képernyőkép, sor, diagram, tervezés látható&#10;&#10;Lehet, hogy az AI által létrehozott tartalom helytelen."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5538" y="2893919"/>
            <a:ext cx="5753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2230" y="138860"/>
            <a:ext cx="22764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7cffa102_0_0"/>
          <p:cNvSpPr txBox="1"/>
          <p:nvPr>
            <p:ph type="title"/>
          </p:nvPr>
        </p:nvSpPr>
        <p:spPr>
          <a:xfrm>
            <a:off x="914400" y="1371601"/>
            <a:ext cx="10363200" cy="118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További szolgáltatások Windows szerver</a:t>
            </a:r>
            <a:endParaRPr/>
          </a:p>
        </p:txBody>
      </p:sp>
      <p:sp>
        <p:nvSpPr>
          <p:cNvPr id="122" name="Google Shape;122;g3e47cffa102_0_0"/>
          <p:cNvSpPr txBox="1"/>
          <p:nvPr>
            <p:ph idx="1" type="body"/>
          </p:nvPr>
        </p:nvSpPr>
        <p:spPr>
          <a:xfrm>
            <a:off x="914399" y="2559171"/>
            <a:ext cx="10363200" cy="338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/>
              <a:t>Automatizált mentés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/>
              <a:t>Rendszeres biztonsági mentések készítése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/>
              <a:t>automatikusan, az adatvesztés elkerülése és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-HU"/>
              <a:t>gyors helyreállítás érdekében.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47cffa102_0_0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2026-04-04T07:34:24Z</dcterms:created>
  <dc:creator>13I</dc:creator>
</cp:coreProperties>
</file>