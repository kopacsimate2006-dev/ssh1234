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8" r:id="rId1"/>
  </p:sldMasterIdLst>
  <p:sldIdLst>
    <p:sldId id="256" r:id="rId2"/>
    <p:sldId id="268" r:id="rId3"/>
    <p:sldId id="267" r:id="rId4"/>
    <p:sldId id="258" r:id="rId5"/>
    <p:sldId id="264" r:id="rId6"/>
    <p:sldId id="257" r:id="rId7"/>
    <p:sldId id="269" r:id="rId8"/>
    <p:sldId id="260" r:id="rId9"/>
    <p:sldId id="261" r:id="rId10"/>
    <p:sldId id="272" r:id="rId11"/>
    <p:sldId id="273" r:id="rId12"/>
    <p:sldId id="274" r:id="rId13"/>
    <p:sldId id="265" r:id="rId14"/>
    <p:sldId id="262" r:id="rId15"/>
    <p:sldId id="263" r:id="rId16"/>
    <p:sldId id="271" r:id="rId17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78719D-5E8D-4EF5-A298-7CC6A6B4E40D}" v="332" dt="2026-05-25T11:55:11.8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2629" y="1371600"/>
            <a:ext cx="5935540" cy="2696866"/>
          </a:xfrm>
        </p:spPr>
        <p:txBody>
          <a:bodyPr anchor="t"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2629" y="4584879"/>
            <a:ext cx="593554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D83F1-BF6E-4A98-8153-BAC9ABDE7CE3}" type="datetimeFigureOut">
              <a:rPr lang="en-US" dirty="0"/>
              <a:t>5/25/2026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50994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6E92-E5C8-4FF8-B2BE-A516F6A1724E}" type="datetimeFigureOut">
              <a:rPr lang="en-US" dirty="0"/>
              <a:t>5/25/2026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4280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9" y="1709738"/>
            <a:ext cx="9214884" cy="3159974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2628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DB232-C681-46A2-B21F-2BD21E9CA134}" type="datetimeFigureOut">
              <a:rPr lang="en-US" dirty="0"/>
              <a:t>5/25/2026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29797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0" y="2849526"/>
            <a:ext cx="5105400" cy="321047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849526"/>
            <a:ext cx="5105400" cy="3210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BE26E-66F9-4E5F-9E07-CA7CDB200281}" type="datetimeFigureOut">
              <a:rPr lang="en-US" dirty="0"/>
              <a:t>5/25/2026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6165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371599"/>
            <a:ext cx="10442760" cy="93975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2628" y="2311353"/>
            <a:ext cx="5084947" cy="69537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2628" y="3006725"/>
            <a:ext cx="5084947" cy="318293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311353"/>
            <a:ext cx="5183188" cy="69537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006725"/>
            <a:ext cx="5183188" cy="318293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1A01C-F286-49E7-998E-3D5BB613F99A}" type="datetimeFigureOut">
              <a:rPr lang="en-US" dirty="0"/>
              <a:t>5/25/2026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3072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C2C0A-F771-42D9-AAB0-90C3A2B0FEAD}" type="datetimeFigureOut">
              <a:rPr lang="en-US" dirty="0"/>
              <a:t>5/25/2026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9920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2A270-409D-4410-9649-B7481576446C}" type="datetimeFigureOut">
              <a:rPr lang="en-US" dirty="0"/>
              <a:t>5/25/2026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75322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463038"/>
            <a:ext cx="3859397" cy="147154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628" y="2934586"/>
            <a:ext cx="3859397" cy="29344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00AA3-798A-4433-8927-6E115914B6EF}" type="datetimeFigureOut">
              <a:rPr lang="en-US" dirty="0"/>
              <a:t>5/25/2026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4382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463038"/>
            <a:ext cx="3859397" cy="147154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628" y="2934586"/>
            <a:ext cx="3859397" cy="29344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22871-0F85-43DC-99D7-CA8E7437E2EC}" type="datetimeFigureOut">
              <a:rPr lang="en-US" dirty="0"/>
              <a:t>5/25/2026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8434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BE5A2-57A1-4629-B29D-D386573AF9F3}" type="datetimeFigureOut">
              <a:rPr lang="en-US" dirty="0"/>
              <a:t>5/25/2026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708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98077" y="1401097"/>
            <a:ext cx="2155722" cy="4775865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401097"/>
            <a:ext cx="8232058" cy="4775866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72485-1B57-41B4-A998-97848CC136C2}" type="datetimeFigureOut">
              <a:rPr lang="en-US" dirty="0"/>
              <a:t>5/25/2026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7421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1"/>
            <a:ext cx="10363200" cy="11875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399" y="2559171"/>
            <a:ext cx="10363200" cy="33826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262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E857DF4D-D974-434D-9D64-40B7405DF5F0}" type="datetimeFigureOut">
              <a:rPr lang="en-US" dirty="0"/>
              <a:t>5/25/2026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209B62C-3402-4623-9A7C-AA048B56F8C3}"/>
              </a:ext>
            </a:extLst>
          </p:cNvPr>
          <p:cNvCxnSpPr>
            <a:cxnSpLocks/>
          </p:cNvCxnSpPr>
          <p:nvPr/>
        </p:nvCxnSpPr>
        <p:spPr>
          <a:xfrm>
            <a:off x="990600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8684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  <p:sldLayoutId id="2147483820" r:id="rId2"/>
    <p:sldLayoutId id="2147483821" r:id="rId3"/>
    <p:sldLayoutId id="2147483822" r:id="rId4"/>
    <p:sldLayoutId id="2147483823" r:id="rId5"/>
    <p:sldLayoutId id="2147483824" r:id="rId6"/>
    <p:sldLayoutId id="2147483825" r:id="rId7"/>
    <p:sldLayoutId id="2147483826" r:id="rId8"/>
    <p:sldLayoutId id="2147483827" r:id="rId9"/>
    <p:sldLayoutId id="2147483828" r:id="rId10"/>
    <p:sldLayoutId id="2147483829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  <p15:guide id="5" pos="576">
          <p15:clr>
            <a:srgbClr val="F26B43"/>
          </p15:clr>
        </p15:guide>
        <p15:guide id="6" orient="horz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909021" y="1306606"/>
            <a:ext cx="6980274" cy="2996649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hu-HU" sz="6600">
                <a:ea typeface="+mj-lt"/>
                <a:cs typeface="+mj-lt"/>
              </a:rPr>
              <a:t>Horizont Utazási Iroda</a:t>
            </a:r>
            <a:endParaRPr lang="hu-HU" sz="6600"/>
          </a:p>
          <a:p>
            <a:pPr>
              <a:lnSpc>
                <a:spcPct val="90000"/>
              </a:lnSpc>
            </a:pPr>
            <a:r>
              <a:rPr lang="hu-HU" sz="6600">
                <a:ea typeface="+mj-lt"/>
                <a:cs typeface="+mj-lt"/>
              </a:rPr>
              <a:t>hálózati terv</a:t>
            </a:r>
            <a:endParaRPr lang="hu-HU" sz="6600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909021" y="5114033"/>
            <a:ext cx="10431686" cy="950275"/>
          </a:xfrm>
        </p:spPr>
        <p:txBody>
          <a:bodyPr anchor="t">
            <a:normAutofit/>
          </a:bodyPr>
          <a:lstStyle/>
          <a:p>
            <a:r>
              <a:rPr lang="hu-HU">
                <a:latin typeface="Arial"/>
                <a:cs typeface="Arial"/>
              </a:rPr>
              <a:t>Készítette:</a:t>
            </a:r>
            <a:r>
              <a:rPr lang="hu-HU" b="0">
                <a:latin typeface="Arial"/>
                <a:cs typeface="Arial"/>
              </a:rPr>
              <a:t> Balta gergő, kopácsi máté, léman gergő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8DD1482B-8210-4AD0-BF77-66497BA6BAA2}"/>
              </a:ext>
            </a:extLst>
          </p:cNvPr>
          <p:cNvSpPr txBox="1"/>
          <p:nvPr/>
        </p:nvSpPr>
        <p:spPr>
          <a:xfrm>
            <a:off x="11340707" y="6611779"/>
            <a:ext cx="9116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000" i="1">
                <a:solidFill>
                  <a:schemeClr val="tx1">
                    <a:lumMod val="85000"/>
                    <a:lumOff val="15000"/>
                  </a:schemeClr>
                </a:solidFill>
              </a:rPr>
              <a:t>2026. 05. 26.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7D7AB60C-93C1-4CC5-81E8-E1F3D345E2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2230" y="138860"/>
            <a:ext cx="2276475" cy="495300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AB74FEBB-1543-471A-9193-6FE82B6B1B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5575" y="858848"/>
            <a:ext cx="5686425" cy="398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7484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4A59EE3-3EA8-9A17-FDCD-B99B8C9B9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/>
              <a:t>Rólunk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DC3DA28-8D04-4592-4ACA-3C97C4601F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399" y="2185519"/>
            <a:ext cx="6036733" cy="24869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 sz="1600">
                <a:ea typeface="+mn-lt"/>
                <a:cs typeface="+mn-lt"/>
              </a:rPr>
              <a:t>Mi vagyunk a</a:t>
            </a:r>
            <a:r>
              <a:rPr lang="hu-HU" sz="1600" i="1">
                <a:ea typeface="+mn-lt"/>
                <a:cs typeface="+mn-lt"/>
              </a:rPr>
              <a:t> </a:t>
            </a:r>
            <a:r>
              <a:rPr lang="hu-HU" sz="1600" b="1" i="1">
                <a:ea typeface="+mn-lt"/>
                <a:cs typeface="+mn-lt"/>
              </a:rPr>
              <a:t>Subnet Squad</a:t>
            </a:r>
            <a:r>
              <a:rPr lang="hu-HU" sz="1600" i="1">
                <a:ea typeface="+mn-lt"/>
                <a:cs typeface="+mn-lt"/>
              </a:rPr>
              <a:t>, </a:t>
            </a:r>
            <a:r>
              <a:rPr lang="hu-HU" sz="1600">
                <a:ea typeface="+mn-lt"/>
                <a:cs typeface="+mn-lt"/>
              </a:rPr>
              <a:t>csapatunk hálózati infrastruktúrák tervezésére, kiépítésére és optimalizálására specializálódott. Fő célunk, hogy </a:t>
            </a:r>
            <a:r>
              <a:rPr lang="hu-HU" sz="1600" b="1">
                <a:ea typeface="+mn-lt"/>
                <a:cs typeface="+mn-lt"/>
              </a:rPr>
              <a:t>megbízható,</a:t>
            </a:r>
            <a:r>
              <a:rPr lang="hu-HU" sz="1600">
                <a:ea typeface="+mn-lt"/>
                <a:cs typeface="+mn-lt"/>
              </a:rPr>
              <a:t> skálázható és </a:t>
            </a:r>
            <a:r>
              <a:rPr lang="hu-HU" sz="1600" b="1">
                <a:ea typeface="+mn-lt"/>
                <a:cs typeface="+mn-lt"/>
              </a:rPr>
              <a:t>biztonságos</a:t>
            </a:r>
            <a:r>
              <a:rPr lang="hu-HU" sz="1600">
                <a:ea typeface="+mn-lt"/>
                <a:cs typeface="+mn-lt"/>
              </a:rPr>
              <a:t> hálózati megoldásokat biztosítsunk kis- és középvállalkozások számára. Munkánk során kiemelt figyelmet fordítunk a modern technológiák alkalmazására, a redundancia biztosítására, valamint a hálózatok </a:t>
            </a:r>
            <a:r>
              <a:rPr lang="hu-HU" sz="1600" b="1">
                <a:ea typeface="+mn-lt"/>
                <a:cs typeface="+mn-lt"/>
              </a:rPr>
              <a:t>hatékony</a:t>
            </a:r>
            <a:r>
              <a:rPr lang="hu-HU" sz="1600">
                <a:ea typeface="+mn-lt"/>
                <a:cs typeface="+mn-lt"/>
              </a:rPr>
              <a:t> és </a:t>
            </a:r>
            <a:r>
              <a:rPr lang="hu-HU" sz="1600" b="1">
                <a:ea typeface="+mn-lt"/>
                <a:cs typeface="+mn-lt"/>
              </a:rPr>
              <a:t>stabil</a:t>
            </a:r>
            <a:r>
              <a:rPr lang="hu-HU" sz="1600">
                <a:ea typeface="+mn-lt"/>
                <a:cs typeface="+mn-lt"/>
              </a:rPr>
              <a:t> működésére.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D7A11986-8BCE-A6B8-18D2-5094507A15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3903" y="2438604"/>
            <a:ext cx="4823513" cy="2707095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64382155-7C9B-43E0-BFC0-347EB60E19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2230" y="138860"/>
            <a:ext cx="2276475" cy="495300"/>
          </a:xfrm>
          <a:prstGeom prst="rect">
            <a:avLst/>
          </a:prstGeom>
        </p:spPr>
      </p:pic>
      <p:sp>
        <p:nvSpPr>
          <p:cNvPr id="8" name="Szövegdoboz 7">
            <a:extLst>
              <a:ext uri="{FF2B5EF4-FFF2-40B4-BE49-F238E27FC236}">
                <a16:creationId xmlns:a16="http://schemas.microsoft.com/office/drawing/2014/main" id="{98652575-A0A4-4A51-96D2-18453D4244C6}"/>
              </a:ext>
            </a:extLst>
          </p:cNvPr>
          <p:cNvSpPr txBox="1"/>
          <p:nvPr/>
        </p:nvSpPr>
        <p:spPr>
          <a:xfrm>
            <a:off x="3310319" y="6590999"/>
            <a:ext cx="3166681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1100" i="1">
                <a:solidFill>
                  <a:schemeClr val="tx1">
                    <a:lumMod val="76000"/>
                    <a:lumOff val="24000"/>
                  </a:schemeClr>
                </a:solidFill>
              </a:rPr>
              <a:t>A csapatmunka</a:t>
            </a:r>
            <a:endParaRPr lang="hu-HU" sz="1100">
              <a:solidFill>
                <a:schemeClr val="tx1">
                  <a:lumMod val="76000"/>
                  <a:lumOff val="24000"/>
                </a:schemeClr>
              </a:solidFill>
            </a:endParaRPr>
          </a:p>
        </p:txBody>
      </p:sp>
      <p:graphicFrame>
        <p:nvGraphicFramePr>
          <p:cNvPr id="6" name="Táblázat 5">
            <a:extLst>
              <a:ext uri="{FF2B5EF4-FFF2-40B4-BE49-F238E27FC236}">
                <a16:creationId xmlns:a16="http://schemas.microsoft.com/office/drawing/2014/main" id="{F3853B6A-F817-41C3-8D71-3E82DD1146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6169067"/>
              </p:ext>
            </p:extLst>
          </p:nvPr>
        </p:nvGraphicFramePr>
        <p:xfrm>
          <a:off x="731628" y="4451432"/>
          <a:ext cx="6219504" cy="206993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109752">
                  <a:extLst>
                    <a:ext uri="{9D8B030D-6E8A-4147-A177-3AD203B41FA5}">
                      <a16:colId xmlns:a16="http://schemas.microsoft.com/office/drawing/2014/main" val="1990371715"/>
                    </a:ext>
                  </a:extLst>
                </a:gridCol>
                <a:gridCol w="3109752">
                  <a:extLst>
                    <a:ext uri="{9D8B030D-6E8A-4147-A177-3AD203B41FA5}">
                      <a16:colId xmlns:a16="http://schemas.microsoft.com/office/drawing/2014/main" val="32045865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u-HU" sz="1200" b="1">
                          <a:solidFill>
                            <a:schemeClr val="tx1"/>
                          </a:solidFill>
                          <a:effectLst/>
                        </a:rPr>
                        <a:t>A hálózat megtervezése Packet Tracerben</a:t>
                      </a:r>
                      <a:endParaRPr lang="hu-HU" sz="11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u-HU" sz="1200" b="0">
                          <a:solidFill>
                            <a:schemeClr val="tx1"/>
                          </a:solidFill>
                          <a:effectLst/>
                        </a:rPr>
                        <a:t>Balta Gergő, Kopácsi Máté</a:t>
                      </a:r>
                      <a:endParaRPr lang="hu-HU" sz="11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8433283"/>
                  </a:ext>
                </a:extLst>
              </a:tr>
              <a:tr h="26939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u-HU" sz="1200">
                          <a:solidFill>
                            <a:schemeClr val="tx1"/>
                          </a:solidFill>
                          <a:effectLst/>
                        </a:rPr>
                        <a:t>A hálózat megépítése, felprogramozása, kábelezése</a:t>
                      </a:r>
                      <a:endParaRPr lang="hu-HU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u-HU" sz="1200">
                          <a:solidFill>
                            <a:schemeClr val="tx1"/>
                          </a:solidFill>
                          <a:effectLst/>
                        </a:rPr>
                        <a:t>Balta Gergő, Kopácsi Máté, Léman Gergő</a:t>
                      </a:r>
                      <a:endParaRPr lang="hu-HU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37267"/>
                  </a:ext>
                </a:extLst>
              </a:tr>
              <a:tr h="26939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u-HU" sz="1200">
                          <a:solidFill>
                            <a:schemeClr val="tx1"/>
                          </a:solidFill>
                          <a:effectLst/>
                        </a:rPr>
                        <a:t>A DHCP/DNS (Windows) server telepítése és beállítása</a:t>
                      </a:r>
                      <a:endParaRPr lang="hu-HU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u-HU" sz="1200">
                          <a:solidFill>
                            <a:schemeClr val="tx1"/>
                          </a:solidFill>
                          <a:effectLst/>
                        </a:rPr>
                        <a:t>Balta Gergő, Kopácsi Máté, Léman Gergő</a:t>
                      </a:r>
                      <a:endParaRPr lang="hu-HU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4173927"/>
                  </a:ext>
                </a:extLst>
              </a:tr>
              <a:tr h="1862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u-HU" sz="1200">
                          <a:solidFill>
                            <a:schemeClr val="tx1"/>
                          </a:solidFill>
                          <a:effectLst/>
                        </a:rPr>
                        <a:t>A FileServer (Linux) telepítése és beállítása</a:t>
                      </a:r>
                      <a:endParaRPr lang="hu-HU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u-HU" sz="1200">
                          <a:solidFill>
                            <a:schemeClr val="tx1"/>
                          </a:solidFill>
                          <a:effectLst/>
                        </a:rPr>
                        <a:t>Balta Gergő, Kopácsi Máté, Léman Gergő</a:t>
                      </a:r>
                      <a:endParaRPr lang="hu-HU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9968781"/>
                  </a:ext>
                </a:extLst>
              </a:tr>
              <a:tr h="13099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u-HU" sz="1200">
                          <a:solidFill>
                            <a:schemeClr val="tx1"/>
                          </a:solidFill>
                          <a:effectLst/>
                        </a:rPr>
                        <a:t>A HomeRouter felprogramozása</a:t>
                      </a:r>
                      <a:endParaRPr lang="hu-HU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u-HU" sz="1200">
                          <a:solidFill>
                            <a:schemeClr val="tx1"/>
                          </a:solidFill>
                          <a:effectLst/>
                        </a:rPr>
                        <a:t>Balta Gergő, Léman Gergő</a:t>
                      </a:r>
                      <a:endParaRPr lang="hu-HU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592136"/>
                  </a:ext>
                </a:extLst>
              </a:tr>
              <a:tr h="26939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u-HU" sz="1200">
                          <a:solidFill>
                            <a:schemeClr val="tx1"/>
                          </a:solidFill>
                          <a:effectLst/>
                        </a:rPr>
                        <a:t>További Windows szerver beállítások (AD, IIS, automatizát mentés)</a:t>
                      </a:r>
                      <a:endParaRPr lang="hu-HU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u-HU" sz="1200">
                          <a:solidFill>
                            <a:schemeClr val="tx1"/>
                          </a:solidFill>
                          <a:effectLst/>
                        </a:rPr>
                        <a:t>Balta Gergő, Kopácsi Máté, Léman Gergő</a:t>
                      </a:r>
                      <a:endParaRPr lang="hu-HU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9780989"/>
                  </a:ext>
                </a:extLst>
              </a:tr>
              <a:tr h="13099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u-HU" sz="1200">
                          <a:solidFill>
                            <a:schemeClr val="tx1"/>
                          </a:solidFill>
                          <a:effectLst/>
                        </a:rPr>
                        <a:t>Dokumentáció</a:t>
                      </a:r>
                      <a:endParaRPr lang="hu-HU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u-HU" sz="1200">
                          <a:solidFill>
                            <a:schemeClr val="tx1"/>
                          </a:solidFill>
                          <a:effectLst/>
                        </a:rPr>
                        <a:t>Balta Gergő, Léman Gergő</a:t>
                      </a:r>
                      <a:endParaRPr lang="hu-HU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3302936"/>
                  </a:ext>
                </a:extLst>
              </a:tr>
              <a:tr h="13099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u-HU" sz="1200">
                          <a:solidFill>
                            <a:schemeClr val="tx1"/>
                          </a:solidFill>
                          <a:effectLst/>
                        </a:rPr>
                        <a:t>Videókészítés</a:t>
                      </a:r>
                      <a:endParaRPr lang="hu-HU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u-HU" sz="1200">
                          <a:solidFill>
                            <a:schemeClr val="tx1"/>
                          </a:solidFill>
                          <a:effectLst/>
                        </a:rPr>
                        <a:t>Balta Gergő, Kopácsi Máté, Léman Gergő</a:t>
                      </a:r>
                      <a:endParaRPr lang="hu-HU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77633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0552909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B6B510E-B80F-D8B0-5835-A1E51741A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 dirty="0"/>
          </a:p>
          <a:p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D22E8FC-6FF8-B526-3957-15EBA9AF27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399" y="1853200"/>
            <a:ext cx="5925672" cy="500751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hu-HU" sz="1600">
                <a:ea typeface="+mn-lt"/>
                <a:cs typeface="+mn-lt"/>
              </a:rPr>
              <a:t>Jelen projektben a </a:t>
            </a:r>
            <a:r>
              <a:rPr lang="hu-HU" sz="1600" b="1" i="1">
                <a:ea typeface="+mn-lt"/>
                <a:cs typeface="+mn-lt"/>
              </a:rPr>
              <a:t>Horizont Utazási Iroda </a:t>
            </a:r>
            <a:r>
              <a:rPr lang="hu-HU" sz="1600">
                <a:ea typeface="+mn-lt"/>
                <a:cs typeface="+mn-lt"/>
              </a:rPr>
              <a:t>számára egy </a:t>
            </a:r>
            <a:r>
              <a:rPr lang="hu-HU" sz="1600" u="sng">
                <a:ea typeface="+mn-lt"/>
                <a:cs typeface="+mn-lt"/>
              </a:rPr>
              <a:t>három telephelyes</a:t>
            </a:r>
            <a:r>
              <a:rPr lang="hu-HU" sz="1600">
                <a:ea typeface="+mn-lt"/>
                <a:cs typeface="+mn-lt"/>
              </a:rPr>
              <a:t> hálózatot terveztünk és építettünk ki. </a:t>
            </a:r>
            <a:endParaRPr lang="hu-HU" sz="1600"/>
          </a:p>
          <a:p>
            <a:r>
              <a:rPr lang="hu-HU" sz="1600">
                <a:ea typeface="+mn-lt"/>
                <a:cs typeface="+mn-lt"/>
              </a:rPr>
              <a:t>A hálózatot három alhálózatra (.1, .10, .100) osztottuk a jobb átláthatóság és kezelés érdekében, az alhálózatok közötti kommunikációt routerek biztosítják </a:t>
            </a:r>
            <a:r>
              <a:rPr lang="hu-HU" sz="1600" b="1">
                <a:ea typeface="+mn-lt"/>
                <a:cs typeface="+mn-lt"/>
              </a:rPr>
              <a:t>statikus</a:t>
            </a:r>
            <a:r>
              <a:rPr lang="hu-HU" sz="1600">
                <a:ea typeface="+mn-lt"/>
                <a:cs typeface="+mn-lt"/>
              </a:rPr>
              <a:t> és </a:t>
            </a:r>
            <a:r>
              <a:rPr lang="hu-HU" sz="1600" b="1">
                <a:ea typeface="+mn-lt"/>
                <a:cs typeface="+mn-lt"/>
              </a:rPr>
              <a:t>dinamikus</a:t>
            </a:r>
            <a:r>
              <a:rPr lang="hu-HU" sz="1600" dirty="0">
                <a:ea typeface="+mn-lt"/>
                <a:cs typeface="+mn-lt"/>
              </a:rPr>
              <a:t> </a:t>
            </a:r>
            <a:r>
              <a:rPr lang="hu-HU" sz="1600">
                <a:ea typeface="+mn-lt"/>
                <a:cs typeface="+mn-lt"/>
              </a:rPr>
              <a:t>útvonal választással.</a:t>
            </a:r>
            <a:endParaRPr lang="hu-HU" sz="1600"/>
          </a:p>
          <a:p>
            <a:r>
              <a:rPr lang="hu-HU" sz="1600">
                <a:ea typeface="+mn-lt"/>
                <a:cs typeface="+mn-lt"/>
              </a:rPr>
              <a:t>A .1-es hálózatban található egy </a:t>
            </a:r>
            <a:r>
              <a:rPr lang="hu-HU" sz="1600" b="1" i="1">
                <a:ea typeface="+mn-lt"/>
                <a:cs typeface="+mn-lt"/>
              </a:rPr>
              <a:t>Windows Server</a:t>
            </a:r>
            <a:r>
              <a:rPr lang="hu-HU" sz="1600" dirty="0">
                <a:ea typeface="+mn-lt"/>
                <a:cs typeface="+mn-lt"/>
              </a:rPr>
              <a:t> </a:t>
            </a:r>
            <a:r>
              <a:rPr lang="hu-HU" sz="1600">
                <a:ea typeface="+mn-lt"/>
                <a:cs typeface="+mn-lt"/>
              </a:rPr>
              <a:t>(</a:t>
            </a:r>
            <a:r>
              <a:rPr lang="hu-HU" sz="1600" b="1">
                <a:ea typeface="+mn-lt"/>
                <a:cs typeface="+mn-lt"/>
              </a:rPr>
              <a:t>DHCP</a:t>
            </a:r>
            <a:r>
              <a:rPr lang="hu-HU" sz="1600">
                <a:ea typeface="+mn-lt"/>
                <a:cs typeface="+mn-lt"/>
              </a:rPr>
              <a:t>, </a:t>
            </a:r>
            <a:r>
              <a:rPr lang="hu-HU" sz="1600" b="1">
                <a:ea typeface="+mn-lt"/>
                <a:cs typeface="+mn-lt"/>
              </a:rPr>
              <a:t>DNS</a:t>
            </a:r>
            <a:r>
              <a:rPr lang="hu-HU" sz="1600">
                <a:ea typeface="+mn-lt"/>
                <a:cs typeface="+mn-lt"/>
              </a:rPr>
              <a:t>) és egy </a:t>
            </a:r>
            <a:r>
              <a:rPr lang="hu-HU" sz="1600" b="1" i="1">
                <a:ea typeface="+mn-lt"/>
                <a:cs typeface="+mn-lt"/>
              </a:rPr>
              <a:t>Linux fájlszerver</a:t>
            </a:r>
            <a:r>
              <a:rPr lang="hu-HU" sz="1600">
                <a:ea typeface="+mn-lt"/>
                <a:cs typeface="+mn-lt"/>
              </a:rPr>
              <a:t> (központi adattárolás). A Wi-Fi kapcsolatot egy külön szegmensben működő home router biztosítja.</a:t>
            </a:r>
            <a:endParaRPr lang="hu-HU" sz="1600" dirty="0">
              <a:ea typeface="+mn-lt"/>
              <a:cs typeface="+mn-lt"/>
            </a:endParaRPr>
          </a:p>
          <a:p>
            <a:r>
              <a:rPr lang="hu-HU" sz="1600">
                <a:ea typeface="+mn-lt"/>
                <a:cs typeface="+mn-lt"/>
              </a:rPr>
              <a:t>A megbízhatóság növelésére</a:t>
            </a:r>
            <a:r>
              <a:rPr lang="hu-HU" sz="1600" b="1">
                <a:ea typeface="+mn-lt"/>
                <a:cs typeface="+mn-lt"/>
              </a:rPr>
              <a:t> EtherChannel</a:t>
            </a:r>
            <a:r>
              <a:rPr lang="hu-HU" sz="1600" dirty="0">
                <a:ea typeface="+mn-lt"/>
                <a:cs typeface="+mn-lt"/>
              </a:rPr>
              <a:t> </a:t>
            </a:r>
            <a:r>
              <a:rPr lang="hu-HU" sz="1600">
                <a:ea typeface="+mn-lt"/>
                <a:cs typeface="+mn-lt"/>
              </a:rPr>
              <a:t>technológiát, a biztonság és szegmentálás érdekében pedig </a:t>
            </a:r>
            <a:r>
              <a:rPr lang="hu-HU" sz="1600" b="1">
                <a:ea typeface="+mn-lt"/>
                <a:cs typeface="+mn-lt"/>
              </a:rPr>
              <a:t>VLAN</a:t>
            </a:r>
            <a:r>
              <a:rPr lang="hu-HU" sz="1600">
                <a:ea typeface="+mn-lt"/>
                <a:cs typeface="+mn-lt"/>
              </a:rPr>
              <a:t>-okat alkalmaztunk.</a:t>
            </a:r>
          </a:p>
          <a:p>
            <a:endParaRPr lang="hu-HU" dirty="0"/>
          </a:p>
          <a:p>
            <a:endParaRPr lang="hu-HU" dirty="0"/>
          </a:p>
        </p:txBody>
      </p:sp>
      <p:sp>
        <p:nvSpPr>
          <p:cNvPr id="5" name="Cím 1">
            <a:extLst>
              <a:ext uri="{FF2B5EF4-FFF2-40B4-BE49-F238E27FC236}">
                <a16:creationId xmlns:a16="http://schemas.microsoft.com/office/drawing/2014/main" id="{E0335411-BE4A-D628-6DE7-49D1962C0E02}"/>
              </a:ext>
            </a:extLst>
          </p:cNvPr>
          <p:cNvSpPr txBox="1">
            <a:spLocks/>
          </p:cNvSpPr>
          <p:nvPr/>
        </p:nvSpPr>
        <p:spPr>
          <a:xfrm>
            <a:off x="909918" y="1120589"/>
            <a:ext cx="10363200" cy="11875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/>
              <a:t>A projektünk</a:t>
            </a:r>
          </a:p>
        </p:txBody>
      </p:sp>
      <p:pic>
        <p:nvPicPr>
          <p:cNvPr id="10" name="Kép 9" descr="Free Busy office Stock Images - Download HD &amp; 4K Images | Coverr.co">
            <a:extLst>
              <a:ext uri="{FF2B5EF4-FFF2-40B4-BE49-F238E27FC236}">
                <a16:creationId xmlns:a16="http://schemas.microsoft.com/office/drawing/2014/main" id="{9A07AE2C-C26C-2166-FA12-21663AC947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9864" y="1714500"/>
            <a:ext cx="4978214" cy="3731560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49B3F356-40F4-45AC-A58A-DD85E0BD1F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2230" y="138860"/>
            <a:ext cx="2276475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560912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 descr="A képen diagram, sor, szöveg, Párhuzamos látható&#10;&#10;Lehet, hogy az AI által létrehozott tartalom helytelen.">
            <a:extLst>
              <a:ext uri="{FF2B5EF4-FFF2-40B4-BE49-F238E27FC236}">
                <a16:creationId xmlns:a16="http://schemas.microsoft.com/office/drawing/2014/main" id="{08707A82-A5FD-343C-E57C-9307D469AA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7032"/>
            <a:ext cx="12192000" cy="4770173"/>
          </a:xfrm>
          <a:prstGeom prst="rect">
            <a:avLst/>
          </a:prstGeom>
        </p:spPr>
      </p:pic>
      <p:sp>
        <p:nvSpPr>
          <p:cNvPr id="5" name="Téglalap 4">
            <a:extLst>
              <a:ext uri="{FF2B5EF4-FFF2-40B4-BE49-F238E27FC236}">
                <a16:creationId xmlns:a16="http://schemas.microsoft.com/office/drawing/2014/main" id="{4BB702AD-47C6-B1A4-9698-FEC807D9E951}"/>
              </a:ext>
            </a:extLst>
          </p:cNvPr>
          <p:cNvSpPr/>
          <p:nvPr/>
        </p:nvSpPr>
        <p:spPr>
          <a:xfrm>
            <a:off x="679247" y="5950219"/>
            <a:ext cx="182835" cy="18378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C165CA1A-F44F-0F6A-83A9-01A3D6E57D91}"/>
              </a:ext>
            </a:extLst>
          </p:cNvPr>
          <p:cNvSpPr txBox="1"/>
          <p:nvPr/>
        </p:nvSpPr>
        <p:spPr>
          <a:xfrm>
            <a:off x="837984" y="5890759"/>
            <a:ext cx="4423577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1400"/>
              <a:t>: a megépített hálózat elemei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06E4528D-20B8-4C87-81AE-2C1CCF743D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2230" y="138860"/>
            <a:ext cx="2276475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099613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010FA48-368E-346F-08CE-C9E798823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Eszközeink</a:t>
            </a:r>
          </a:p>
        </p:txBody>
      </p:sp>
      <p:graphicFrame>
        <p:nvGraphicFramePr>
          <p:cNvPr id="5" name="Tartalom helye 4">
            <a:extLst>
              <a:ext uri="{FF2B5EF4-FFF2-40B4-BE49-F238E27FC236}">
                <a16:creationId xmlns:a16="http://schemas.microsoft.com/office/drawing/2014/main" id="{0E0061A0-4954-2D9D-182D-DA4F9A80AC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2084750"/>
              </p:ext>
            </p:extLst>
          </p:nvPr>
        </p:nvGraphicFramePr>
        <p:xfrm>
          <a:off x="639763" y="2633663"/>
          <a:ext cx="6211034" cy="240233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105517">
                  <a:extLst>
                    <a:ext uri="{9D8B030D-6E8A-4147-A177-3AD203B41FA5}">
                      <a16:colId xmlns:a16="http://schemas.microsoft.com/office/drawing/2014/main" val="454314902"/>
                    </a:ext>
                  </a:extLst>
                </a:gridCol>
                <a:gridCol w="3105517">
                  <a:extLst>
                    <a:ext uri="{9D8B030D-6E8A-4147-A177-3AD203B41FA5}">
                      <a16:colId xmlns:a16="http://schemas.microsoft.com/office/drawing/2014/main" val="1562226473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hu-HU" sz="1400" b="0" i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Router1</a:t>
                      </a:r>
                      <a:r>
                        <a:rPr lang="hu-HU" sz="14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  <a:endParaRPr lang="hu-HU" b="0" i="0" dirty="0"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hu-HU" sz="1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Cisco Router 2901 </a:t>
                      </a:r>
                      <a:endParaRPr lang="hu-HU" b="0" i="0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73228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hu-HU" sz="1400" b="0" i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Router2</a:t>
                      </a:r>
                      <a:r>
                        <a:rPr lang="hu-HU" sz="14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  <a:endParaRPr lang="hu-HU" b="0" i="0" dirty="0"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hu-HU" sz="1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Cisco Router 2901 </a:t>
                      </a:r>
                      <a:endParaRPr lang="hu-HU" b="0" i="0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93415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hu-HU" sz="1400" b="0" i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Layer3Switch (mint Router/Switch)</a:t>
                      </a:r>
                      <a:r>
                        <a:rPr lang="hu-HU" sz="14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  <a:endParaRPr lang="hu-HU" b="0" i="0" dirty="0"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hu-HU" sz="1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Cisco Catalyst 3560 v2 series PoE-24 </a:t>
                      </a:r>
                      <a:endParaRPr lang="hu-HU" b="0" i="0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570054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hu-HU" sz="1400" b="0" i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Layer3Switch2 (mint Switch)</a:t>
                      </a:r>
                      <a:r>
                        <a:rPr lang="hu-HU" sz="14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  <a:endParaRPr lang="hu-HU" b="0" i="0" dirty="0"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hu-HU" sz="1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Cisco Catalyst 3560 series PoE-24 </a:t>
                      </a:r>
                      <a:endParaRPr lang="hu-HU" b="0" i="0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811191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hu-HU" sz="1400" b="0" i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Switch1</a:t>
                      </a:r>
                      <a:r>
                        <a:rPr lang="hu-HU" sz="14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  <a:endParaRPr lang="hu-HU" b="0" i="0" dirty="0"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hu-HU" sz="1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Cisco Catalyst 2960 series </a:t>
                      </a:r>
                      <a:endParaRPr lang="hu-HU" b="0" i="0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027759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hu-HU" sz="1400" b="0" i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Switch2</a:t>
                      </a:r>
                      <a:r>
                        <a:rPr lang="hu-HU" sz="14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  <a:endParaRPr lang="hu-HU" b="0" i="0" dirty="0"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hu-HU" sz="1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Cisco Catalyst 2960 series </a:t>
                      </a:r>
                      <a:endParaRPr lang="hu-HU" b="0" i="0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26802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hu-HU" sz="1400" b="0" i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HomeRouter</a:t>
                      </a:r>
                      <a:r>
                        <a:rPr lang="hu-HU" sz="14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  <a:endParaRPr lang="hu-HU" b="0" i="0" dirty="0"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hu-HU" sz="1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D-Link DIR-300 </a:t>
                      </a:r>
                      <a:endParaRPr lang="hu-HU" b="0" i="0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981636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hu-HU" sz="1400" b="0" i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Home VoIP IP Phone</a:t>
                      </a:r>
                      <a:r>
                        <a:rPr lang="hu-HU" sz="14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  <a:endParaRPr lang="hu-HU" b="0" i="0" dirty="0"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hu-HU" sz="1400" b="0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Grandstream GXP1405 (x2)</a:t>
                      </a:r>
                      <a:endParaRPr lang="hu-HU" b="0" i="0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0445160"/>
                  </a:ext>
                </a:extLst>
              </a:tr>
            </a:tbl>
          </a:graphicData>
        </a:graphic>
      </p:graphicFrame>
      <p:pic>
        <p:nvPicPr>
          <p:cNvPr id="3" name="Kép 2">
            <a:extLst>
              <a:ext uri="{FF2B5EF4-FFF2-40B4-BE49-F238E27FC236}">
                <a16:creationId xmlns:a16="http://schemas.microsoft.com/office/drawing/2014/main" id="{5BF3FB51-2D81-0C97-9BF3-7E64311A21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2483" y="1304925"/>
            <a:ext cx="4248150" cy="4248150"/>
          </a:xfrm>
          <a:prstGeom prst="rect">
            <a:avLst/>
          </a:prstGeom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DA64C9D9-BFC0-BDD9-E398-07E1A2121282}"/>
              </a:ext>
            </a:extLst>
          </p:cNvPr>
          <p:cNvSpPr txBox="1"/>
          <p:nvPr/>
        </p:nvSpPr>
        <p:spPr>
          <a:xfrm>
            <a:off x="7865791" y="5775887"/>
            <a:ext cx="3166681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1600" i="1">
                <a:solidFill>
                  <a:schemeClr val="tx1">
                    <a:lumMod val="76000"/>
                    <a:lumOff val="24000"/>
                  </a:schemeClr>
                </a:solidFill>
              </a:rPr>
              <a:t>A hálózatunk magja a Rack-ben</a:t>
            </a:r>
            <a:endParaRPr lang="hu-HU">
              <a:solidFill>
                <a:schemeClr val="tx1">
                  <a:lumMod val="76000"/>
                  <a:lumOff val="24000"/>
                </a:schemeClr>
              </a:solidFill>
            </a:endParaRPr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FCE04B3C-DEBF-4230-AF0C-345199140E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2230" y="138860"/>
            <a:ext cx="2276475" cy="495300"/>
          </a:xfrm>
          <a:prstGeom prst="rect">
            <a:avLst/>
          </a:prstGeom>
        </p:spPr>
      </p:pic>
      <p:graphicFrame>
        <p:nvGraphicFramePr>
          <p:cNvPr id="4" name="Táblázat 3">
            <a:extLst>
              <a:ext uri="{FF2B5EF4-FFF2-40B4-BE49-F238E27FC236}">
                <a16:creationId xmlns:a16="http://schemas.microsoft.com/office/drawing/2014/main" id="{B9D51C54-6B2A-4FCF-928D-603C1A067B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7700276"/>
              </p:ext>
            </p:extLst>
          </p:nvPr>
        </p:nvGraphicFramePr>
        <p:xfrm>
          <a:off x="639763" y="5221794"/>
          <a:ext cx="6211034" cy="54343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105517">
                  <a:extLst>
                    <a:ext uri="{9D8B030D-6E8A-4147-A177-3AD203B41FA5}">
                      <a16:colId xmlns:a16="http://schemas.microsoft.com/office/drawing/2014/main" val="1590298354"/>
                    </a:ext>
                  </a:extLst>
                </a:gridCol>
                <a:gridCol w="3105517">
                  <a:extLst>
                    <a:ext uri="{9D8B030D-6E8A-4147-A177-3AD203B41FA5}">
                      <a16:colId xmlns:a16="http://schemas.microsoft.com/office/drawing/2014/main" val="142745060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25"/>
                        </a:lnSpc>
                        <a:buNone/>
                      </a:pPr>
                      <a:r>
                        <a:rPr lang="hu-HU" sz="1400" b="0" i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Windows szerver</a:t>
                      </a:r>
                      <a:endParaRPr lang="hu-HU" sz="1400" b="0" i="1" dirty="0"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25"/>
                        </a:lnSpc>
                        <a:buNone/>
                      </a:pPr>
                      <a:r>
                        <a:rPr lang="hu-HU" sz="1400" b="0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DHCP és DNS szerver</a:t>
                      </a:r>
                      <a:endParaRPr lang="hu-HU" sz="1400" b="0" i="0" dirty="0"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752124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25"/>
                        </a:lnSpc>
                        <a:buNone/>
                      </a:pPr>
                      <a:r>
                        <a:rPr lang="hu-HU" sz="1400" b="0" i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Linux szerver</a:t>
                      </a:r>
                      <a:endParaRPr lang="hu-HU" sz="1400" b="0" i="1" dirty="0"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hu-HU" sz="1400" b="0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File szerver</a:t>
                      </a:r>
                      <a:endParaRPr lang="hu-HU" sz="1400" b="0" i="0" dirty="0"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82291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6614343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DCBCA3E-CA03-3802-88E6-710952319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737859" cy="1097280"/>
          </a:xfrm>
        </p:spPr>
        <p:txBody>
          <a:bodyPr>
            <a:normAutofit/>
          </a:bodyPr>
          <a:lstStyle/>
          <a:p>
            <a:r>
              <a:rPr lang="hu-HU">
                <a:ea typeface="+mj-lt"/>
                <a:cs typeface="+mj-lt"/>
              </a:rPr>
              <a:t>Az útválasztás</a:t>
            </a:r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EB74297-E673-BEEF-EC69-D62A08A26C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222" y="2465799"/>
            <a:ext cx="5384469" cy="4072015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r>
              <a:rPr lang="hu-HU">
                <a:ea typeface="+mn-lt"/>
                <a:cs typeface="+mn-lt"/>
              </a:rPr>
              <a:t>Az adatforgalmat </a:t>
            </a:r>
            <a:r>
              <a:rPr lang="hu-HU" b="1" i="1">
                <a:ea typeface="+mn-lt"/>
                <a:cs typeface="+mn-lt"/>
              </a:rPr>
              <a:t>2 Router</a:t>
            </a:r>
            <a:r>
              <a:rPr lang="hu-HU" b="1">
                <a:ea typeface="+mn-lt"/>
                <a:cs typeface="+mn-lt"/>
              </a:rPr>
              <a:t> + </a:t>
            </a:r>
            <a:r>
              <a:rPr lang="hu-HU" b="1" i="1">
                <a:ea typeface="+mn-lt"/>
                <a:cs typeface="+mn-lt"/>
              </a:rPr>
              <a:t>Layer 3</a:t>
            </a:r>
            <a:r>
              <a:rPr lang="hu-HU" i="1">
                <a:ea typeface="+mn-lt"/>
                <a:cs typeface="+mn-lt"/>
              </a:rPr>
              <a:t> switch</a:t>
            </a:r>
            <a:r>
              <a:rPr lang="hu-HU" dirty="0">
                <a:ea typeface="+mn-lt"/>
                <a:cs typeface="+mn-lt"/>
              </a:rPr>
              <a:t> </a:t>
            </a:r>
            <a:r>
              <a:rPr lang="hu-HU">
                <a:ea typeface="+mn-lt"/>
                <a:cs typeface="+mn-lt"/>
              </a:rPr>
              <a:t>irányítja (amely switch és routerként is működik)</a:t>
            </a:r>
            <a:endParaRPr lang="hu-HU" dirty="0"/>
          </a:p>
          <a:p>
            <a:r>
              <a:rPr lang="hu-HU" b="1" i="1">
                <a:ea typeface="+mn-lt"/>
                <a:cs typeface="+mn-lt"/>
              </a:rPr>
              <a:t>Router1 ⬌ Router2</a:t>
            </a:r>
            <a:r>
              <a:rPr lang="hu-HU">
                <a:ea typeface="+mn-lt"/>
                <a:cs typeface="+mn-lt"/>
              </a:rPr>
              <a:t>: </a:t>
            </a:r>
            <a:r>
              <a:rPr lang="hu-HU" u="sng">
                <a:ea typeface="+mn-lt"/>
                <a:cs typeface="+mn-lt"/>
              </a:rPr>
              <a:t>Statikus</a:t>
            </a:r>
            <a:r>
              <a:rPr lang="hu-HU">
                <a:ea typeface="+mn-lt"/>
                <a:cs typeface="+mn-lt"/>
              </a:rPr>
              <a:t> útválasztás, Soros (Serial) kapcsolat valósul meg</a:t>
            </a:r>
            <a:endParaRPr lang="hu-HU"/>
          </a:p>
          <a:p>
            <a:r>
              <a:rPr lang="hu-HU" b="1" i="1">
                <a:ea typeface="+mn-lt"/>
                <a:cs typeface="+mn-lt"/>
              </a:rPr>
              <a:t>Layer3Switch ⬌ routerek</a:t>
            </a:r>
            <a:r>
              <a:rPr lang="hu-HU">
                <a:ea typeface="+mn-lt"/>
                <a:cs typeface="+mn-lt"/>
              </a:rPr>
              <a:t>: </a:t>
            </a:r>
            <a:r>
              <a:rPr lang="hu-HU" u="sng">
                <a:ea typeface="+mn-lt"/>
                <a:cs typeface="+mn-lt"/>
              </a:rPr>
              <a:t>RIP</a:t>
            </a:r>
            <a:r>
              <a:rPr lang="hu-HU" dirty="0">
                <a:ea typeface="+mn-lt"/>
                <a:cs typeface="+mn-lt"/>
              </a:rPr>
              <a:t> </a:t>
            </a:r>
            <a:r>
              <a:rPr lang="hu-HU">
                <a:ea typeface="+mn-lt"/>
                <a:cs typeface="+mn-lt"/>
              </a:rPr>
              <a:t>dinamikus útválasztás (LAN), ⮕ automatikus útvonalfrissítés</a:t>
            </a:r>
          </a:p>
          <a:p>
            <a:r>
              <a:rPr lang="hu-HU">
                <a:solidFill>
                  <a:srgbClr val="000000"/>
                </a:solidFill>
              </a:rPr>
              <a:t>A </a:t>
            </a:r>
            <a:r>
              <a:rPr lang="hu-HU" b="1">
                <a:solidFill>
                  <a:srgbClr val="000000"/>
                </a:solidFill>
                <a:ea typeface="+mn-lt"/>
                <a:cs typeface="+mn-lt"/>
              </a:rPr>
              <a:t>/30 alhálózati maszk: </a:t>
            </a:r>
            <a:r>
              <a:rPr lang="hu-HU">
                <a:solidFill>
                  <a:srgbClr val="000000"/>
                </a:solidFill>
                <a:ea typeface="+mn-lt"/>
                <a:cs typeface="+mn-lt"/>
              </a:rPr>
              <a:t>két végpont van (Router1 ↔ Router2), ez a </a:t>
            </a:r>
            <a:r>
              <a:rPr lang="hu-HU" b="1">
                <a:solidFill>
                  <a:srgbClr val="000000"/>
                </a:solidFill>
                <a:ea typeface="+mn-lt"/>
                <a:cs typeface="+mn-lt"/>
              </a:rPr>
              <a:t>“pont-pont”</a:t>
            </a:r>
            <a:r>
              <a:rPr lang="hu-HU">
                <a:solidFill>
                  <a:srgbClr val="000000"/>
                </a:solidFill>
                <a:ea typeface="+mn-lt"/>
                <a:cs typeface="+mn-lt"/>
              </a:rPr>
              <a:t> kapcsolatok standard megoldása </a:t>
            </a:r>
            <a:endParaRPr lang="hu-HU"/>
          </a:p>
          <a:p>
            <a:r>
              <a:rPr lang="hu-HU">
                <a:solidFill>
                  <a:srgbClr val="000000"/>
                </a:solidFill>
                <a:ea typeface="+mn-lt"/>
                <a:cs typeface="+mn-lt"/>
              </a:rPr>
              <a:t>A forgalomirányítók </a:t>
            </a:r>
            <a:r>
              <a:rPr lang="hu-HU" b="1">
                <a:solidFill>
                  <a:srgbClr val="000000"/>
                </a:solidFill>
                <a:ea typeface="+mn-lt"/>
                <a:cs typeface="+mn-lt"/>
              </a:rPr>
              <a:t>jelszóval</a:t>
            </a:r>
            <a:r>
              <a:rPr lang="hu-HU">
                <a:solidFill>
                  <a:srgbClr val="000000"/>
                </a:solidFill>
                <a:ea typeface="+mn-lt"/>
                <a:cs typeface="+mn-lt"/>
              </a:rPr>
              <a:t> védettek a hálózati biztonság növelése és a jogosulatlan hozzáférés megakadályozása érdekében.</a:t>
            </a:r>
            <a:endParaRPr lang="hu-HU" b="1" dirty="0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B7BF228F-FBB2-6D75-018C-46EE8B76E996}"/>
              </a:ext>
            </a:extLst>
          </p:cNvPr>
          <p:cNvSpPr txBox="1"/>
          <p:nvPr/>
        </p:nvSpPr>
        <p:spPr>
          <a:xfrm>
            <a:off x="8059913" y="5009843"/>
            <a:ext cx="1104097" cy="2760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hu-HU"/>
          </a:p>
        </p:txBody>
      </p:sp>
      <p:pic>
        <p:nvPicPr>
          <p:cNvPr id="5" name="Kép 4" descr="A képen diagram, szöveg, sor, képernyőkép látható&#10;&#10;Lehet, hogy az AI által létrehozott tartalom helytelen.">
            <a:extLst>
              <a:ext uri="{FF2B5EF4-FFF2-40B4-BE49-F238E27FC236}">
                <a16:creationId xmlns:a16="http://schemas.microsoft.com/office/drawing/2014/main" id="{DDD572BE-B07A-3C1A-F7ED-9166AEF5F4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280" y="641817"/>
            <a:ext cx="5882528" cy="3254749"/>
          </a:xfrm>
          <a:prstGeom prst="rect">
            <a:avLst/>
          </a:prstGeom>
        </p:spPr>
      </p:pic>
      <p:sp>
        <p:nvSpPr>
          <p:cNvPr id="8" name="Szövegdoboz 7">
            <a:extLst>
              <a:ext uri="{FF2B5EF4-FFF2-40B4-BE49-F238E27FC236}">
                <a16:creationId xmlns:a16="http://schemas.microsoft.com/office/drawing/2014/main" id="{742C7845-84F5-B046-61D8-F0ADF7F01C9D}"/>
              </a:ext>
            </a:extLst>
          </p:cNvPr>
          <p:cNvSpPr txBox="1"/>
          <p:nvPr/>
        </p:nvSpPr>
        <p:spPr>
          <a:xfrm>
            <a:off x="6893248" y="3900461"/>
            <a:ext cx="4313922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1600" i="1">
                <a:solidFill>
                  <a:schemeClr val="tx1">
                    <a:lumMod val="76000"/>
                    <a:lumOff val="24000"/>
                  </a:schemeClr>
                </a:solidFill>
              </a:rPr>
              <a:t>Az útválasztási terv a szimulációban</a:t>
            </a:r>
            <a:endParaRPr lang="hu-HU">
              <a:solidFill>
                <a:schemeClr val="tx1">
                  <a:lumMod val="76000"/>
                  <a:lumOff val="24000"/>
                </a:schemeClr>
              </a:solidFill>
            </a:endParaRPr>
          </a:p>
        </p:txBody>
      </p:sp>
      <p:graphicFrame>
        <p:nvGraphicFramePr>
          <p:cNvPr id="9" name="Táblázat 8">
            <a:extLst>
              <a:ext uri="{FF2B5EF4-FFF2-40B4-BE49-F238E27FC236}">
                <a16:creationId xmlns:a16="http://schemas.microsoft.com/office/drawing/2014/main" id="{6D9C74C9-EB2C-A1C8-54CA-9DEC575CEE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3299897"/>
              </p:ext>
            </p:extLst>
          </p:nvPr>
        </p:nvGraphicFramePr>
        <p:xfrm>
          <a:off x="6130178" y="5874684"/>
          <a:ext cx="5848350" cy="66675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457325">
                  <a:extLst>
                    <a:ext uri="{9D8B030D-6E8A-4147-A177-3AD203B41FA5}">
                      <a16:colId xmlns:a16="http://schemas.microsoft.com/office/drawing/2014/main" val="2825805953"/>
                    </a:ext>
                  </a:extLst>
                </a:gridCol>
                <a:gridCol w="1457325">
                  <a:extLst>
                    <a:ext uri="{9D8B030D-6E8A-4147-A177-3AD203B41FA5}">
                      <a16:colId xmlns:a16="http://schemas.microsoft.com/office/drawing/2014/main" val="3708832781"/>
                    </a:ext>
                  </a:extLst>
                </a:gridCol>
                <a:gridCol w="1466850">
                  <a:extLst>
                    <a:ext uri="{9D8B030D-6E8A-4147-A177-3AD203B41FA5}">
                      <a16:colId xmlns:a16="http://schemas.microsoft.com/office/drawing/2014/main" val="2777056444"/>
                    </a:ext>
                  </a:extLst>
                </a:gridCol>
                <a:gridCol w="1466850">
                  <a:extLst>
                    <a:ext uri="{9D8B030D-6E8A-4147-A177-3AD203B41FA5}">
                      <a16:colId xmlns:a16="http://schemas.microsoft.com/office/drawing/2014/main" val="1989005334"/>
                    </a:ext>
                  </a:extLst>
                </a:gridCol>
              </a:tblGrid>
              <a:tr h="333375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endParaRPr lang="hu-HU" sz="1400" b="1" i="0" dirty="0">
                        <a:solidFill>
                          <a:srgbClr val="1F3864"/>
                        </a:solidFill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hu-HU" sz="1400" b="1" i="0">
                          <a:effectLst/>
                          <a:latin typeface="Calibri"/>
                        </a:rPr>
                        <a:t>Router1</a:t>
                      </a:r>
                      <a:r>
                        <a:rPr lang="hu-HU" sz="1400" b="0" i="0" dirty="0">
                          <a:effectLst/>
                          <a:latin typeface="Calibri"/>
                        </a:rPr>
                        <a:t> </a:t>
                      </a:r>
                      <a:endParaRPr lang="hu-HU" b="0" i="0" dirty="0"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hu-HU" sz="1400" b="1" i="0">
                          <a:effectLst/>
                          <a:latin typeface="Calibri"/>
                        </a:rPr>
                        <a:t>Router2</a:t>
                      </a:r>
                      <a:r>
                        <a:rPr lang="hu-HU" sz="1400" b="0" i="0" dirty="0">
                          <a:effectLst/>
                          <a:latin typeface="Calibri"/>
                        </a:rPr>
                        <a:t> </a:t>
                      </a:r>
                      <a:endParaRPr lang="hu-HU" b="0" i="0" dirty="0"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hu-HU" sz="1400" b="1" i="0">
                          <a:effectLst/>
                          <a:latin typeface="Calibri"/>
                        </a:rPr>
                        <a:t>Layer3Switch</a:t>
                      </a:r>
                      <a:r>
                        <a:rPr lang="hu-HU" sz="1400" b="0" i="0" dirty="0">
                          <a:effectLst/>
                          <a:latin typeface="Calibri"/>
                        </a:rPr>
                        <a:t> </a:t>
                      </a:r>
                      <a:endParaRPr lang="hu-HU" b="0" i="0" dirty="0"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7362058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hu-HU" sz="1400" b="0" i="1">
                          <a:effectLst/>
                          <a:latin typeface="Calibri"/>
                        </a:rPr>
                        <a:t>Jelszavak</a:t>
                      </a:r>
                      <a:r>
                        <a:rPr lang="hu-HU" sz="1400" b="0" i="0" dirty="0">
                          <a:effectLst/>
                          <a:latin typeface="Calibri"/>
                        </a:rPr>
                        <a:t> </a:t>
                      </a:r>
                      <a:endParaRPr lang="hu-HU" b="0" i="0" dirty="0"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hu-HU" sz="1400" b="0" i="1">
                          <a:effectLst/>
                          <a:latin typeface="Calibri"/>
                        </a:rPr>
                        <a:t>titok1</a:t>
                      </a:r>
                      <a:r>
                        <a:rPr lang="hu-HU" sz="1400" b="0" i="0" dirty="0">
                          <a:effectLst/>
                          <a:latin typeface="Calibri"/>
                        </a:rPr>
                        <a:t> </a:t>
                      </a:r>
                      <a:endParaRPr lang="hu-HU" b="0" i="0" dirty="0"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hu-HU" sz="1400" b="0" i="1">
                          <a:effectLst/>
                          <a:latin typeface="Calibri"/>
                        </a:rPr>
                        <a:t>titok2</a:t>
                      </a:r>
                      <a:r>
                        <a:rPr lang="hu-HU" sz="1400" b="0" i="0" dirty="0">
                          <a:effectLst/>
                          <a:latin typeface="Calibri"/>
                        </a:rPr>
                        <a:t> </a:t>
                      </a:r>
                      <a:endParaRPr lang="hu-HU" b="0" i="0" dirty="0"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hu-HU" sz="1400" b="0" i="1">
                          <a:effectLst/>
                          <a:latin typeface="Calibri"/>
                        </a:rPr>
                        <a:t>titok3</a:t>
                      </a:r>
                      <a:r>
                        <a:rPr lang="hu-HU" sz="1400" b="0" i="0" dirty="0">
                          <a:effectLst/>
                          <a:latin typeface="Calibri"/>
                        </a:rPr>
                        <a:t> </a:t>
                      </a:r>
                      <a:endParaRPr lang="hu-HU" b="0" i="0" dirty="0"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00616"/>
                  </a:ext>
                </a:extLst>
              </a:tr>
            </a:tbl>
          </a:graphicData>
        </a:graphic>
      </p:graphicFrame>
      <p:pic>
        <p:nvPicPr>
          <p:cNvPr id="10" name="Kép 9">
            <a:extLst>
              <a:ext uri="{FF2B5EF4-FFF2-40B4-BE49-F238E27FC236}">
                <a16:creationId xmlns:a16="http://schemas.microsoft.com/office/drawing/2014/main" id="{25F9DE8B-9034-499A-A4B6-36A45F4188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2230" y="138860"/>
            <a:ext cx="2276475" cy="495300"/>
          </a:xfrm>
          <a:prstGeom prst="rect">
            <a:avLst/>
          </a:prstGeom>
        </p:spPr>
      </p:pic>
      <p:pic>
        <p:nvPicPr>
          <p:cNvPr id="6" name="Kép 5" descr="A képen szöveg, képernyőkép, Betűtípus látható&#10;&#10;Lehet, hogy az AI által létrehozott tartalom helytelen.">
            <a:extLst>
              <a:ext uri="{FF2B5EF4-FFF2-40B4-BE49-F238E27FC236}">
                <a16:creationId xmlns:a16="http://schemas.microsoft.com/office/drawing/2014/main" id="{C4C1E090-96F1-3AAC-7FD5-9B2177082B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3384" y="4281767"/>
            <a:ext cx="3348319" cy="1454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053545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6B794-276B-5C50-17EB-A5F221080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5C8CC41-A942-2F5E-6FB9-16D763FAC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737859" cy="1097280"/>
          </a:xfrm>
        </p:spPr>
        <p:txBody>
          <a:bodyPr>
            <a:normAutofit/>
          </a:bodyPr>
          <a:lstStyle/>
          <a:p>
            <a:r>
              <a:rPr lang="hu-HU"/>
              <a:t>VLAN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217E2CB-79DD-F1AD-0963-D6114E54FB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222" y="2465799"/>
            <a:ext cx="5384469" cy="4072015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hu-HU" b="1" i="1">
                <a:ea typeface="+mn-lt"/>
                <a:cs typeface="+mn-lt"/>
              </a:rPr>
              <a:t>Layer 3 switch</a:t>
            </a:r>
            <a:r>
              <a:rPr lang="hu-HU">
                <a:ea typeface="+mn-lt"/>
                <a:cs typeface="+mn-lt"/>
              </a:rPr>
              <a:t>: router + switch funkció egyben </a:t>
            </a:r>
            <a:endParaRPr lang="hu-HU" dirty="0">
              <a:ea typeface="+mn-lt"/>
              <a:cs typeface="+mn-lt"/>
            </a:endParaRPr>
          </a:p>
          <a:p>
            <a:r>
              <a:rPr lang="hu-HU">
                <a:ea typeface="+mn-lt"/>
                <a:cs typeface="+mn-lt"/>
              </a:rPr>
              <a:t>VLAN létrehozása szükséges a működéshez </a:t>
            </a:r>
            <a:endParaRPr lang="hu-HU"/>
          </a:p>
          <a:p>
            <a:r>
              <a:rPr lang="hu-HU">
                <a:ea typeface="+mn-lt"/>
                <a:cs typeface="+mn-lt"/>
              </a:rPr>
              <a:t>Belső irányban: </a:t>
            </a:r>
            <a:r>
              <a:rPr lang="hu-HU" b="1">
                <a:ea typeface="+mn-lt"/>
                <a:cs typeface="+mn-lt"/>
              </a:rPr>
              <a:t>routerként működik</a:t>
            </a:r>
            <a:r>
              <a:rPr lang="hu-HU">
                <a:ea typeface="+mn-lt"/>
                <a:cs typeface="+mn-lt"/>
              </a:rPr>
              <a:t> (alhálózatok között forgalomirányítás) </a:t>
            </a:r>
            <a:endParaRPr lang="hu-HU"/>
          </a:p>
          <a:p>
            <a:r>
              <a:rPr lang="hu-HU">
                <a:ea typeface="+mn-lt"/>
                <a:cs typeface="+mn-lt"/>
              </a:rPr>
              <a:t>Külső irányban: </a:t>
            </a:r>
            <a:r>
              <a:rPr lang="hu-HU" b="1">
                <a:ea typeface="+mn-lt"/>
                <a:cs typeface="+mn-lt"/>
              </a:rPr>
              <a:t>switchként működik</a:t>
            </a:r>
            <a:r>
              <a:rPr lang="hu-HU">
                <a:ea typeface="+mn-lt"/>
                <a:cs typeface="+mn-lt"/>
              </a:rPr>
              <a:t> (eszközök kiszolgálása) </a:t>
            </a:r>
          </a:p>
          <a:p>
            <a:r>
              <a:rPr lang="hu-HU">
                <a:ea typeface="+mn-lt"/>
                <a:cs typeface="+mn-lt"/>
              </a:rPr>
              <a:t>VLAN konfiguráció: </a:t>
            </a:r>
            <a:r>
              <a:rPr lang="hu-HU" b="1">
                <a:ea typeface="+mn-lt"/>
                <a:cs typeface="+mn-lt"/>
              </a:rPr>
              <a:t>FastEthernet 10–15 portokon </a:t>
            </a:r>
            <a:endParaRPr lang="hu-HU" b="1"/>
          </a:p>
          <a:p>
            <a:r>
              <a:rPr lang="hu-HU">
                <a:ea typeface="+mn-lt"/>
                <a:cs typeface="+mn-lt"/>
              </a:rPr>
              <a:t>Ezzel biztosított az adott alhálózat működése és elkülönítése</a:t>
            </a:r>
            <a:endParaRPr lang="hu-HU"/>
          </a:p>
          <a:p>
            <a:endParaRPr lang="hu-HU" dirty="0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F7CE0C39-B1DB-7724-EA1B-50EE45573A92}"/>
              </a:ext>
            </a:extLst>
          </p:cNvPr>
          <p:cNvSpPr txBox="1"/>
          <p:nvPr/>
        </p:nvSpPr>
        <p:spPr>
          <a:xfrm>
            <a:off x="8059913" y="5009843"/>
            <a:ext cx="1104097" cy="2760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hu-HU"/>
          </a:p>
        </p:txBody>
      </p:sp>
      <p:pic>
        <p:nvPicPr>
          <p:cNvPr id="7" name="Kép 6" descr="A képen szöveg, képernyőkép, diagram, sor látható&#10;&#10;Lehet, hogy az AI által létrehozott tartalom helytelen.">
            <a:extLst>
              <a:ext uri="{FF2B5EF4-FFF2-40B4-BE49-F238E27FC236}">
                <a16:creationId xmlns:a16="http://schemas.microsoft.com/office/drawing/2014/main" id="{754AAAE5-3DFA-6971-BABB-6E7AFD4DC7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0761" y="1374261"/>
            <a:ext cx="4592204" cy="4054763"/>
          </a:xfrm>
          <a:prstGeom prst="rect">
            <a:avLst/>
          </a:prstGeom>
        </p:spPr>
      </p:pic>
      <p:pic>
        <p:nvPicPr>
          <p:cNvPr id="11" name="Kép 10" descr="A képen szöveg, képernyőkép, menü látható&#10;&#10;Lehet, hogy az AI által létrehozott tartalom helytelen.">
            <a:extLst>
              <a:ext uri="{FF2B5EF4-FFF2-40B4-BE49-F238E27FC236}">
                <a16:creationId xmlns:a16="http://schemas.microsoft.com/office/drawing/2014/main" id="{EB0BDC93-8D63-8FFD-CB4E-01BACC59F6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9" t="47423" r="46078"/>
          <a:stretch>
            <a:fillRect/>
          </a:stretch>
        </p:blipFill>
        <p:spPr>
          <a:xfrm>
            <a:off x="10006938" y="2832274"/>
            <a:ext cx="2101732" cy="3331224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2609EEC5-3DFD-457C-B960-2629D31CCE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2230" y="138860"/>
            <a:ext cx="2276475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182544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5DF8992-8010-F2D6-8680-597C8A14B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>
                <a:ea typeface="+mj-lt"/>
                <a:cs typeface="+mj-lt"/>
              </a:rPr>
              <a:t>DHCP szerver </a:t>
            </a:r>
            <a:r>
              <a:rPr lang="hu-HU" sz="1600" b="1">
                <a:solidFill>
                  <a:schemeClr val="accent1"/>
                </a:solidFill>
                <a:ea typeface="+mj-lt"/>
                <a:cs typeface="+mj-lt"/>
              </a:rPr>
              <a:t>Windows szerver</a:t>
            </a:r>
            <a:endParaRPr lang="hu-HU" sz="1800" b="1">
              <a:solidFill>
                <a:schemeClr val="accent1"/>
              </a:solidFill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8E62C5D-BD45-BA92-4870-E477E38875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523" y="2294377"/>
            <a:ext cx="5702605" cy="2538188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hu-HU">
                <a:ea typeface="+mn-lt"/>
                <a:cs typeface="+mn-lt"/>
              </a:rPr>
              <a:t>Automatikus IP-cím kiosztás a klienseknek</a:t>
            </a:r>
            <a:endParaRPr lang="hu-HU"/>
          </a:p>
          <a:p>
            <a:r>
              <a:rPr lang="hu-HU">
                <a:ea typeface="+mn-lt"/>
                <a:cs typeface="+mn-lt"/>
              </a:rPr>
              <a:t>3 külön</a:t>
            </a:r>
            <a:r>
              <a:rPr lang="hu-HU" b="1" i="1">
                <a:ea typeface="+mn-lt"/>
                <a:cs typeface="+mn-lt"/>
              </a:rPr>
              <a:t> Server Pool</a:t>
            </a:r>
            <a:r>
              <a:rPr lang="hu-HU">
                <a:ea typeface="+mn-lt"/>
                <a:cs typeface="+mn-lt"/>
              </a:rPr>
              <a:t> (1., 10., 100. hálózat)</a:t>
            </a:r>
            <a:endParaRPr lang="hu-HU"/>
          </a:p>
          <a:p>
            <a:r>
              <a:rPr lang="hu-HU">
                <a:ea typeface="+mn-lt"/>
                <a:cs typeface="+mn-lt"/>
              </a:rPr>
              <a:t>Címek .10-től indulnak, hálózatonként ~10 eszköz</a:t>
            </a:r>
            <a:endParaRPr lang="hu-HU"/>
          </a:p>
          <a:p>
            <a:r>
              <a:rPr lang="hu-HU" b="1" i="1">
                <a:ea typeface="+mn-lt"/>
                <a:cs typeface="+mn-lt"/>
              </a:rPr>
              <a:t>DHCP Relay</a:t>
            </a:r>
            <a:r>
              <a:rPr lang="hu-HU">
                <a:ea typeface="+mn-lt"/>
                <a:cs typeface="+mn-lt"/>
              </a:rPr>
              <a:t> (ip helper-address) továbbítja a kéréseket</a:t>
            </a:r>
            <a:endParaRPr lang="hu-HU"/>
          </a:p>
          <a:p>
            <a:r>
              <a:rPr lang="hu-HU">
                <a:ea typeface="+mn-lt"/>
                <a:cs typeface="+mn-lt"/>
              </a:rPr>
              <a:t>DHCP (</a:t>
            </a:r>
            <a:r>
              <a:rPr lang="hu-HU" b="1">
                <a:ea typeface="+mn-lt"/>
                <a:cs typeface="+mn-lt"/>
              </a:rPr>
              <a:t>Windows</a:t>
            </a:r>
            <a:r>
              <a:rPr lang="hu-HU">
                <a:ea typeface="+mn-lt"/>
                <a:cs typeface="+mn-lt"/>
              </a:rPr>
              <a:t>) szerver címe: </a:t>
            </a:r>
            <a:r>
              <a:rPr lang="hu-HU" b="1">
                <a:ea typeface="+mn-lt"/>
                <a:cs typeface="+mn-lt"/>
              </a:rPr>
              <a:t>192.168.1.200</a:t>
            </a:r>
            <a:endParaRPr lang="hu-HU" b="1"/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32DF38FC-BB10-81EC-27EF-3AE0E9849B76}"/>
              </a:ext>
            </a:extLst>
          </p:cNvPr>
          <p:cNvSpPr txBox="1"/>
          <p:nvPr/>
        </p:nvSpPr>
        <p:spPr>
          <a:xfrm>
            <a:off x="7590823" y="5943464"/>
            <a:ext cx="4399328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1600" i="1" dirty="0">
                <a:solidFill>
                  <a:schemeClr val="tx1">
                    <a:lumMod val="76000"/>
                    <a:lumOff val="24000"/>
                  </a:schemeClr>
                </a:solidFill>
              </a:rPr>
              <a:t>A Windows szerverben </a:t>
            </a:r>
            <a:r>
              <a:rPr lang="hu-HU" sz="1600" i="1">
                <a:solidFill>
                  <a:schemeClr val="tx1">
                    <a:lumMod val="76000"/>
                    <a:lumOff val="24000"/>
                  </a:schemeClr>
                </a:solidFill>
              </a:rPr>
              <a:t>létrehozott Poolok</a:t>
            </a:r>
            <a:endParaRPr lang="hu-HU" sz="1600" i="1" dirty="0">
              <a:solidFill>
                <a:schemeClr val="tx1">
                  <a:lumMod val="76000"/>
                  <a:lumOff val="24000"/>
                </a:schemeClr>
              </a:solidFill>
            </a:endParaRPr>
          </a:p>
        </p:txBody>
      </p:sp>
      <p:graphicFrame>
        <p:nvGraphicFramePr>
          <p:cNvPr id="10" name="Táblázat 9">
            <a:extLst>
              <a:ext uri="{FF2B5EF4-FFF2-40B4-BE49-F238E27FC236}">
                <a16:creationId xmlns:a16="http://schemas.microsoft.com/office/drawing/2014/main" id="{840BF96F-8672-E8C1-746F-72D4DA7CCA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6187594"/>
              </p:ext>
            </p:extLst>
          </p:nvPr>
        </p:nvGraphicFramePr>
        <p:xfrm>
          <a:off x="635276" y="5255923"/>
          <a:ext cx="5753100" cy="103074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876550">
                  <a:extLst>
                    <a:ext uri="{9D8B030D-6E8A-4147-A177-3AD203B41FA5}">
                      <a16:colId xmlns:a16="http://schemas.microsoft.com/office/drawing/2014/main" val="3359295820"/>
                    </a:ext>
                  </a:extLst>
                </a:gridCol>
                <a:gridCol w="2876550">
                  <a:extLst>
                    <a:ext uri="{9D8B030D-6E8A-4147-A177-3AD203B41FA5}">
                      <a16:colId xmlns:a16="http://schemas.microsoft.com/office/drawing/2014/main" val="2875638666"/>
                    </a:ext>
                  </a:extLst>
                </a:gridCol>
              </a:tblGrid>
              <a:tr h="515371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25"/>
                        </a:lnSpc>
                        <a:buNone/>
                      </a:pPr>
                      <a:endParaRPr lang="hu-HU" sz="1200" b="0" i="0" dirty="0"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25"/>
                        </a:lnSpc>
                        <a:buNone/>
                      </a:pPr>
                      <a:r>
                        <a:rPr lang="hu-HU" sz="1200" b="1" i="0">
                          <a:effectLst/>
                          <a:latin typeface="Calibri"/>
                        </a:rPr>
                        <a:t>Jelszó</a:t>
                      </a:r>
                      <a:endParaRPr lang="hu-HU" b="0" i="0" dirty="0"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017573"/>
                  </a:ext>
                </a:extLst>
              </a:tr>
              <a:tr h="515371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25"/>
                        </a:lnSpc>
                        <a:buNone/>
                      </a:pPr>
                      <a:r>
                        <a:rPr lang="hu-HU" sz="1200" b="0" i="1">
                          <a:effectLst/>
                          <a:latin typeface="Calibri"/>
                        </a:rPr>
                        <a:t>Windows server (DHCP és DNS)</a:t>
                      </a:r>
                      <a:r>
                        <a:rPr lang="hu-HU" sz="1200" b="0" i="0" dirty="0">
                          <a:effectLst/>
                          <a:latin typeface="Calibri"/>
                        </a:rPr>
                        <a:t> </a:t>
                      </a:r>
                      <a:endParaRPr lang="hu-HU" b="0" i="0" dirty="0"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25"/>
                        </a:lnSpc>
                        <a:buNone/>
                      </a:pPr>
                      <a:r>
                        <a:rPr lang="hu-HU" sz="1200" b="0" i="0">
                          <a:effectLst/>
                          <a:latin typeface="Calibri" panose="020F0502020204030204" pitchFamily="34" charset="0"/>
                        </a:rPr>
                        <a:t>Szerver2016! </a:t>
                      </a:r>
                      <a:endParaRPr lang="hu-HU" b="0" i="0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0141421"/>
                  </a:ext>
                </a:extLst>
              </a:tr>
            </a:tbl>
          </a:graphicData>
        </a:graphic>
      </p:graphicFrame>
      <p:pic>
        <p:nvPicPr>
          <p:cNvPr id="8" name="Kép 7">
            <a:extLst>
              <a:ext uri="{FF2B5EF4-FFF2-40B4-BE49-F238E27FC236}">
                <a16:creationId xmlns:a16="http://schemas.microsoft.com/office/drawing/2014/main" id="{E5231B02-D910-4A89-B601-3A73FD8B4E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2230" y="138860"/>
            <a:ext cx="2276475" cy="495300"/>
          </a:xfrm>
          <a:prstGeom prst="rect">
            <a:avLst/>
          </a:prstGeom>
        </p:spPr>
      </p:pic>
      <p:pic>
        <p:nvPicPr>
          <p:cNvPr id="6" name="Kép 5" descr="A képen szöveg, képernyőkép, szoftver, szám látható&#10;&#10;Lehet, hogy az AI által létrehozott tartalom helytelen.">
            <a:extLst>
              <a:ext uri="{FF2B5EF4-FFF2-40B4-BE49-F238E27FC236}">
                <a16:creationId xmlns:a16="http://schemas.microsoft.com/office/drawing/2014/main" id="{30263CC2-22FF-962A-2D6A-4D86A294D7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6565" y="776008"/>
            <a:ext cx="4276165" cy="4992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615106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EE461CE-977F-EBF4-5EA9-0D6A04C09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>
                <a:ea typeface="+mj-lt"/>
                <a:cs typeface="+mj-lt"/>
              </a:rPr>
              <a:t>DNS szerver </a:t>
            </a:r>
            <a:r>
              <a:rPr lang="hu-HU" sz="1600" b="1">
                <a:solidFill>
                  <a:schemeClr val="accent1"/>
                </a:solidFill>
                <a:ea typeface="+mj-lt"/>
                <a:cs typeface="+mj-lt"/>
              </a:rPr>
              <a:t>Windows szerver</a:t>
            </a:r>
            <a:endParaRPr lang="hu-HU" sz="1600" b="1">
              <a:solidFill>
                <a:schemeClr val="accent1"/>
              </a:solidFill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1CE86B3-41C7-6D02-07E6-0DEAE97951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577443"/>
            <a:ext cx="5893104" cy="35885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>
                <a:ea typeface="+mn-lt"/>
                <a:cs typeface="+mn-lt"/>
              </a:rPr>
              <a:t>Hosztnevek ↔ IP-címek feloldása</a:t>
            </a:r>
            <a:endParaRPr lang="hu-HU"/>
          </a:p>
          <a:p>
            <a:r>
              <a:rPr lang="hu-HU">
                <a:ea typeface="+mn-lt"/>
                <a:cs typeface="+mn-lt"/>
              </a:rPr>
              <a:t>Egyszerűbb hálózati elérés (nem kell IP-t megjegyezni)</a:t>
            </a:r>
            <a:endParaRPr lang="hu-HU"/>
          </a:p>
          <a:p>
            <a:r>
              <a:rPr lang="hu-HU">
                <a:ea typeface="+mn-lt"/>
                <a:cs typeface="+mn-lt"/>
              </a:rPr>
              <a:t>A rekordok:</a:t>
            </a:r>
          </a:p>
          <a:p>
            <a:r>
              <a:rPr lang="hu-HU" b="1" i="1">
                <a:ea typeface="+mn-lt"/>
                <a:cs typeface="+mn-lt"/>
              </a:rPr>
              <a:t>windows.server.kozpont</a:t>
            </a:r>
            <a:r>
              <a:rPr lang="hu-HU" dirty="0">
                <a:ea typeface="+mn-lt"/>
                <a:cs typeface="+mn-lt"/>
              </a:rPr>
              <a:t> → 192.168.1.200     </a:t>
            </a:r>
            <a:r>
              <a:rPr lang="hu-HU" b="1" i="1" dirty="0">
                <a:ea typeface="+mn-lt"/>
                <a:cs typeface="+mn-lt"/>
              </a:rPr>
              <a:t>          linux.server.kozpont</a:t>
            </a:r>
            <a:r>
              <a:rPr lang="hu-HU" dirty="0">
                <a:ea typeface="+mn-lt"/>
                <a:cs typeface="+mn-lt"/>
              </a:rPr>
              <a:t> </a:t>
            </a:r>
            <a:r>
              <a:rPr lang="hu-HU" sz="2000" dirty="0">
                <a:ea typeface="+mn-lt"/>
                <a:cs typeface="+mn-lt"/>
              </a:rPr>
              <a:t>→</a:t>
            </a:r>
            <a:r>
              <a:rPr lang="hu-HU" dirty="0">
                <a:ea typeface="+mn-lt"/>
                <a:cs typeface="+mn-lt"/>
              </a:rPr>
              <a:t> 192.168.1.250 </a:t>
            </a:r>
            <a:endParaRPr lang="hu-HU"/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08F2D37E-158F-0735-4079-58AA5C4B07E9}"/>
              </a:ext>
            </a:extLst>
          </p:cNvPr>
          <p:cNvSpPr txBox="1"/>
          <p:nvPr/>
        </p:nvSpPr>
        <p:spPr>
          <a:xfrm>
            <a:off x="6442479" y="4854734"/>
            <a:ext cx="5462088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1600" i="1">
                <a:solidFill>
                  <a:schemeClr val="tx1">
                    <a:lumMod val="76000"/>
                    <a:lumOff val="24000"/>
                  </a:schemeClr>
                </a:solidFill>
              </a:rPr>
              <a:t>A DNS szerver beállításai A Windows szerveren</a:t>
            </a:r>
            <a:endParaRPr lang="hu-HU" sz="1600" i="1" dirty="0">
              <a:solidFill>
                <a:schemeClr val="tx1">
                  <a:lumMod val="76000"/>
                  <a:lumOff val="24000"/>
                </a:schemeClr>
              </a:solidFill>
            </a:endParaRPr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1383C223-1D71-47C2-B8CE-8AAB973946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2230" y="138860"/>
            <a:ext cx="2276475" cy="495300"/>
          </a:xfrm>
          <a:prstGeom prst="rect">
            <a:avLst/>
          </a:prstGeom>
        </p:spPr>
      </p:pic>
      <p:pic>
        <p:nvPicPr>
          <p:cNvPr id="5" name="Kép 4" descr="A képen szöveg, képernyőkép, szám, képernyő látható&#10;&#10;Lehet, hogy az AI által létrehozott tartalom helytelen.">
            <a:extLst>
              <a:ext uri="{FF2B5EF4-FFF2-40B4-BE49-F238E27FC236}">
                <a16:creationId xmlns:a16="http://schemas.microsoft.com/office/drawing/2014/main" id="{4AEFC307-F055-DC5E-5995-68955B4840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878" y="1457326"/>
            <a:ext cx="2859741" cy="3203762"/>
          </a:xfrm>
          <a:prstGeom prst="rect">
            <a:avLst/>
          </a:prstGeom>
        </p:spPr>
      </p:pic>
      <p:pic>
        <p:nvPicPr>
          <p:cNvPr id="6" name="Kép 5" descr="A képen szöveg, képernyőkép, szám, képernyő látható&#10;&#10;Lehet, hogy az AI által létrehozott tartalom helytelen.">
            <a:extLst>
              <a:ext uri="{FF2B5EF4-FFF2-40B4-BE49-F238E27FC236}">
                <a16:creationId xmlns:a16="http://schemas.microsoft.com/office/drawing/2014/main" id="{BCD847F5-2D76-9850-0959-E58E53BC15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4818" y="1374401"/>
            <a:ext cx="2851897" cy="3313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394481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EE461CE-977F-EBF4-5EA9-0D6A04C09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>
                <a:solidFill>
                  <a:srgbClr val="000000"/>
                </a:solidFill>
                <a:ea typeface="+mj-lt"/>
                <a:cs typeface="+mj-lt"/>
              </a:rPr>
              <a:t>További szolgáltatások </a:t>
            </a:r>
            <a:r>
              <a:rPr lang="hu-HU" sz="1600" b="1">
                <a:solidFill>
                  <a:schemeClr val="accent1"/>
                </a:solidFill>
                <a:ea typeface="+mj-lt"/>
                <a:cs typeface="+mj-lt"/>
              </a:rPr>
              <a:t>Windows szerver</a:t>
            </a:r>
            <a:endParaRPr lang="hu-HU" sz="1600" b="1">
              <a:solidFill>
                <a:schemeClr val="accent1"/>
              </a:solidFill>
            </a:endParaRPr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1383C223-1D71-47C2-B8CE-8AAB973946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2230" y="138860"/>
            <a:ext cx="2276475" cy="495300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665452F9-B089-4C0E-929E-9298C83D44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25146" y="2111530"/>
            <a:ext cx="587110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hu-HU" altLang="hu-HU" sz="1800" b="1" i="0" u="none" strike="noStrike" cap="none" normalizeH="0" baseline="0">
                <a:ln>
                  <a:noFill/>
                </a:ln>
                <a:effectLst/>
              </a:rPr>
              <a:t>IIS (Internet Information Services)</a:t>
            </a:r>
            <a:br>
              <a:rPr lang="hu-HU" altLang="hu-HU" sz="18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hu-HU" altLang="hu-HU" sz="1800" b="0" i="0" u="none" strike="noStrike" cap="none" normalizeH="0" baseline="0">
                <a:ln>
                  <a:noFill/>
                </a:ln>
                <a:effectLst/>
              </a:rPr>
              <a:t>Webes szolgáltatások futtatására szolgál, lehetővé teszi weboldalak és alkalmazások hosztolását a szerveren. </a:t>
            </a:r>
            <a:endParaRPr lang="hu-HU"/>
          </a:p>
        </p:txBody>
      </p:sp>
      <p:pic>
        <p:nvPicPr>
          <p:cNvPr id="3" name="Kép 2" descr="A képen szöveg, képernyőkép, szoftver, képernyő látható&#10;&#10;Lehet, hogy az AI által létrehozott tartalom helytelen.">
            <a:extLst>
              <a:ext uri="{FF2B5EF4-FFF2-40B4-BE49-F238E27FC236}">
                <a16:creationId xmlns:a16="http://schemas.microsoft.com/office/drawing/2014/main" id="{5CB6425F-4756-D283-615D-B69348C510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478" y="3042398"/>
            <a:ext cx="5753100" cy="3238500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1A79F986-3E2A-A9B1-D4A8-BC914FC1BC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9941" y="2107503"/>
            <a:ext cx="587110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hu-HU" altLang="hu-HU" sz="1800" b="1"/>
              <a:t>Active Directory</a:t>
            </a:r>
            <a:br>
              <a:rPr lang="hu-HU" altLang="hu-HU" sz="1800" dirty="0"/>
            </a:br>
            <a:r>
              <a:rPr lang="hu-HU" altLang="hu-HU" sz="1800"/>
              <a:t>Központi felhasználó- és jogosultságkezelést biztosít, megkönnyíti a hálózat biztonságos és átlátható működését. </a:t>
            </a:r>
            <a:endParaRPr lang="hu-HU" altLang="hu-HU" sz="1800" dirty="0"/>
          </a:p>
        </p:txBody>
      </p:sp>
      <p:pic>
        <p:nvPicPr>
          <p:cNvPr id="9" name="Kép 8" descr="Szövegdoboz 2, Szövegdoboz">
            <a:extLst>
              <a:ext uri="{FF2B5EF4-FFF2-40B4-BE49-F238E27FC236}">
                <a16:creationId xmlns:a16="http://schemas.microsoft.com/office/drawing/2014/main" id="{B6AC0326-3A8D-1855-7364-16F7E15DF0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1541" y="6414247"/>
            <a:ext cx="1704975" cy="304800"/>
          </a:xfrm>
          <a:prstGeom prst="rect">
            <a:avLst/>
          </a:prstGeom>
        </p:spPr>
      </p:pic>
      <p:pic>
        <p:nvPicPr>
          <p:cNvPr id="10" name="Kép 9" descr="A képen szöveg, képernyőkép, képernyő, szoftver látható&#10;&#10;Lehet, hogy az AI által létrehozott tartalom helytelen.">
            <a:extLst>
              <a:ext uri="{FF2B5EF4-FFF2-40B4-BE49-F238E27FC236}">
                <a16:creationId xmlns:a16="http://schemas.microsoft.com/office/drawing/2014/main" id="{93C01017-F998-2839-FC92-8520E3DA2A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3618" y="3042397"/>
            <a:ext cx="4022911" cy="3406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075300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E633F-A090-2C8D-AE16-FD52C70FB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1843497-9C0D-F0CC-4854-70C3B0B94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>
                <a:ea typeface="+mj-lt"/>
                <a:cs typeface="+mj-lt"/>
              </a:rPr>
              <a:t>További szolgáltatások </a:t>
            </a:r>
            <a:r>
              <a:rPr lang="hu-HU" sz="1600" b="1">
                <a:solidFill>
                  <a:schemeClr val="accent1"/>
                </a:solidFill>
                <a:ea typeface="+mj-lt"/>
                <a:cs typeface="+mj-lt"/>
              </a:rPr>
              <a:t>Windows szerver</a:t>
            </a:r>
            <a:endParaRPr lang="hu-HU" sz="1600" b="1">
              <a:solidFill>
                <a:schemeClr val="accent1"/>
              </a:solidFill>
            </a:endParaRPr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607C280D-4BFE-AA9B-780A-6CCFB403B6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2230" y="138860"/>
            <a:ext cx="2276475" cy="495300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754856A2-BA69-8F58-FFF3-AC4CF492649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5587" y="2669373"/>
            <a:ext cx="4425546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hu-HU" altLang="hu-HU" sz="1800" b="1" i="0" u="none" strike="noStrike" cap="none" normalizeH="0" baseline="0">
                <a:ln>
                  <a:noFill/>
                </a:ln>
                <a:effectLst/>
              </a:rPr>
              <a:t>Automatizált mentés</a:t>
            </a:r>
            <a:br>
              <a:rPr lang="hu-HU" altLang="hu-HU" sz="18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hu-HU" altLang="hu-HU" sz="1800" b="0" i="0" u="none" strike="noStrike" cap="none" normalizeH="0" baseline="0">
                <a:ln>
                  <a:noFill/>
                </a:ln>
                <a:effectLst/>
              </a:rPr>
              <a:t>Rendszeres biztonsági mentések készítése automatikusan, az adatvesztés elkerülése és gyors helyreállítás érdekében. </a:t>
            </a:r>
            <a:endParaRPr lang="hu-HU" altLang="hu-HU" sz="18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pic>
        <p:nvPicPr>
          <p:cNvPr id="3" name="Kép 2" descr="A képen szöveg, elektronika, képernyőkép, szoftver látható&#10;&#10;Lehet, hogy az AI által létrehozott tartalom helytelen.">
            <a:extLst>
              <a:ext uri="{FF2B5EF4-FFF2-40B4-BE49-F238E27FC236}">
                <a16:creationId xmlns:a16="http://schemas.microsoft.com/office/drawing/2014/main" id="{F3C11A64-BF21-7F65-A4D4-F54FBEAD43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8607" y="2107825"/>
            <a:ext cx="4883523" cy="4345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16043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7DA86-48B8-1B39-6B8E-D69ABEF07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Kép 7">
            <a:extLst>
              <a:ext uri="{FF2B5EF4-FFF2-40B4-BE49-F238E27FC236}">
                <a16:creationId xmlns:a16="http://schemas.microsoft.com/office/drawing/2014/main" id="{329143DC-AD35-5184-280B-9B3F4A1911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2230" y="138860"/>
            <a:ext cx="2276475" cy="495300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0A5B6F94-8FC8-2464-309F-A31934CE7F5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31117" y="1097214"/>
            <a:ext cx="4873781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hu-HU" sz="1800" b="1">
                <a:ea typeface="+mn-lt"/>
                <a:cs typeface="+mn-lt"/>
              </a:rPr>
              <a:t>VPN</a:t>
            </a:r>
            <a:br>
              <a:rPr lang="hu-HU" sz="1800" b="1" dirty="0">
                <a:ea typeface="+mn-lt"/>
                <a:cs typeface="+mn-lt"/>
              </a:rPr>
            </a:br>
            <a:r>
              <a:rPr lang="hu-HU" sz="1800" dirty="0">
                <a:ea typeface="+mn-lt"/>
                <a:cs typeface="+mn-lt"/>
              </a:rPr>
              <a:t> A VPN biztonságos távoli hozzáférést biztosít a vállalat belső hálózatához titkosított kapcsolaton keresztül. Segítségével a felhasználók interneten keresztül is elérhetik a szervereket és belső szolgáltatásokat, mintha az irodai hálózaton lennének. A rendszer növeli az adatbiztonságot, és támogatja a távoli munkavégzést, valamint telephelyek összekapcsolását is.</a:t>
            </a:r>
            <a:endParaRPr lang="hu-HU" dirty="0"/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F2E121BA-62E3-A5E6-4355-67FAD0D6CF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2548" y="1236833"/>
            <a:ext cx="5030662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hu-HU" altLang="hu-HU" sz="1800" b="1"/>
              <a:t>WLC</a:t>
            </a:r>
            <a:endParaRPr lang="hu-HU" altLang="hu-HU" sz="1800" dirty="0"/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hu-HU" sz="1800" dirty="0">
                <a:ea typeface="+mn-lt"/>
                <a:cs typeface="+mn-lt"/>
              </a:rPr>
              <a:t>A WLC (Wireless LAN Controller) feladata a vállalati vezeték nélküli hálózat központi kezelése. Lehetővé teszi több Access Point egyidejű menedzselését, a Wi-Fi hálózatok (SSID-k) kezelését, valamint a biztonsági beállítások és VLAN-ok </a:t>
            </a:r>
            <a:r>
              <a:rPr lang="hu-HU" sz="1800">
                <a:ea typeface="+mn-lt"/>
                <a:cs typeface="+mn-lt"/>
              </a:rPr>
              <a:t>központi konfigurálását. (jövőbeli skálázhatóság)</a:t>
            </a:r>
            <a:br>
              <a:rPr lang="hu-HU" altLang="hu-HU" sz="1800" dirty="0"/>
            </a:br>
            <a:endParaRPr lang="hu-HU" altLang="hu-HU" sz="1800"/>
          </a:p>
        </p:txBody>
      </p:sp>
      <p:pic>
        <p:nvPicPr>
          <p:cNvPr id="4" name="Kép 3" descr="Unable to configure WLC-PT so that I can access it later through Web  browser in Packet Tracer 7.3.0">
            <a:extLst>
              <a:ext uri="{FF2B5EF4-FFF2-40B4-BE49-F238E27FC236}">
                <a16:creationId xmlns:a16="http://schemas.microsoft.com/office/drawing/2014/main" id="{77EE0577-2B91-0DC6-C216-889C6E5A1B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4035" y="3386977"/>
            <a:ext cx="3200400" cy="3333750"/>
          </a:xfrm>
          <a:prstGeom prst="rect">
            <a:avLst/>
          </a:prstGeom>
        </p:spPr>
      </p:pic>
      <p:pic>
        <p:nvPicPr>
          <p:cNvPr id="6" name="Kép 5" descr="IPSEC VPN with ASA 5506-x Cisco Packet Tracer - Cisco Community">
            <a:extLst>
              <a:ext uri="{FF2B5EF4-FFF2-40B4-BE49-F238E27FC236}">
                <a16:creationId xmlns:a16="http://schemas.microsoft.com/office/drawing/2014/main" id="{F6CEA9F5-2E2B-A4D0-EA3E-CCB9B5050C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7075" y="3649195"/>
            <a:ext cx="3327026" cy="3134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404674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593B976-92BA-8645-36CB-F0EC9C515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File szerver </a:t>
            </a:r>
            <a:r>
              <a:rPr lang="hu-HU" sz="1600" b="1">
                <a:solidFill>
                  <a:schemeClr val="accent1"/>
                </a:solidFill>
              </a:rPr>
              <a:t>Linux szerver</a:t>
            </a:r>
            <a:endParaRPr lang="hu-HU" b="1" dirty="0">
              <a:solidFill>
                <a:schemeClr val="accent1"/>
              </a:solidFill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787A6DC-3FE4-9410-12CC-3964DC2928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1487" y="2559171"/>
            <a:ext cx="6080313" cy="338265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>
                <a:ea typeface="+mn-lt"/>
                <a:cs typeface="+mn-lt"/>
              </a:rPr>
              <a:t>Fájlszerver létrehozása </a:t>
            </a:r>
            <a:r>
              <a:rPr lang="hu-HU" b="1" i="1">
                <a:ea typeface="+mn-lt"/>
                <a:cs typeface="+mn-lt"/>
              </a:rPr>
              <a:t>Linux Debian 12</a:t>
            </a:r>
            <a:r>
              <a:rPr lang="hu-HU">
                <a:ea typeface="+mn-lt"/>
                <a:cs typeface="+mn-lt"/>
              </a:rPr>
              <a:t> rendszerrel </a:t>
            </a:r>
            <a:endParaRPr lang="hu-HU"/>
          </a:p>
          <a:p>
            <a:r>
              <a:rPr lang="hu-HU">
                <a:ea typeface="+mn-lt"/>
                <a:cs typeface="+mn-lt"/>
              </a:rPr>
              <a:t>Minden csatlakozott eszköz eléri a fájlszervert</a:t>
            </a:r>
            <a:endParaRPr lang="hu-HU"/>
          </a:p>
          <a:p>
            <a:r>
              <a:rPr lang="hu-HU">
                <a:ea typeface="+mn-lt"/>
                <a:cs typeface="+mn-lt"/>
              </a:rPr>
              <a:t>Központi fájlmegosztás biztosítása a hálózatban</a:t>
            </a:r>
            <a:endParaRPr lang="hu-HU"/>
          </a:p>
          <a:p>
            <a:r>
              <a:rPr lang="hu-HU"/>
              <a:t>File (</a:t>
            </a:r>
            <a:r>
              <a:rPr lang="hu-HU" b="1"/>
              <a:t>Linux</a:t>
            </a:r>
            <a:r>
              <a:rPr lang="hu-HU"/>
              <a:t>) szerver címe: </a:t>
            </a:r>
            <a:r>
              <a:rPr lang="hu-HU" b="1"/>
              <a:t>192.168.1.250</a:t>
            </a:r>
            <a:endParaRPr lang="hu-HU" dirty="0"/>
          </a:p>
          <a:p>
            <a:endParaRPr lang="hu-HU" dirty="0"/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73FE741A-039B-2D81-58F3-B84F959D2A6A}"/>
              </a:ext>
            </a:extLst>
          </p:cNvPr>
          <p:cNvSpPr txBox="1"/>
          <p:nvPr/>
        </p:nvSpPr>
        <p:spPr>
          <a:xfrm>
            <a:off x="6667500" y="6247710"/>
            <a:ext cx="5441475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1600" i="1">
                <a:solidFill>
                  <a:schemeClr val="tx1">
                    <a:lumMod val="76000"/>
                    <a:lumOff val="24000"/>
                  </a:schemeClr>
                </a:solidFill>
              </a:rPr>
              <a:t>A File szerver elérése a Windows szerveren keresztül </a:t>
            </a:r>
            <a:endParaRPr lang="hu-HU">
              <a:solidFill>
                <a:schemeClr val="tx1">
                  <a:lumMod val="76000"/>
                  <a:lumOff val="24000"/>
                </a:schemeClr>
              </a:solidFill>
            </a:endParaRPr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888A64E3-6B96-41A2-88CE-6BB5F30D53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2230" y="138860"/>
            <a:ext cx="2276475" cy="495300"/>
          </a:xfrm>
          <a:prstGeom prst="rect">
            <a:avLst/>
          </a:prstGeom>
        </p:spPr>
      </p:pic>
      <p:graphicFrame>
        <p:nvGraphicFramePr>
          <p:cNvPr id="5" name="Táblázat 4">
            <a:extLst>
              <a:ext uri="{FF2B5EF4-FFF2-40B4-BE49-F238E27FC236}">
                <a16:creationId xmlns:a16="http://schemas.microsoft.com/office/drawing/2014/main" id="{F0E16EEF-B7F1-43F7-91A8-9D479284E1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7603445"/>
              </p:ext>
            </p:extLst>
          </p:nvPr>
        </p:nvGraphicFramePr>
        <p:xfrm>
          <a:off x="914400" y="5228713"/>
          <a:ext cx="5753100" cy="515371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876550">
                  <a:extLst>
                    <a:ext uri="{9D8B030D-6E8A-4147-A177-3AD203B41FA5}">
                      <a16:colId xmlns:a16="http://schemas.microsoft.com/office/drawing/2014/main" val="2717350712"/>
                    </a:ext>
                  </a:extLst>
                </a:gridCol>
                <a:gridCol w="2876550">
                  <a:extLst>
                    <a:ext uri="{9D8B030D-6E8A-4147-A177-3AD203B41FA5}">
                      <a16:colId xmlns:a16="http://schemas.microsoft.com/office/drawing/2014/main" val="1473476547"/>
                    </a:ext>
                  </a:extLst>
                </a:gridCol>
              </a:tblGrid>
              <a:tr h="515371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25"/>
                        </a:lnSpc>
                        <a:buNone/>
                      </a:pPr>
                      <a:r>
                        <a:rPr lang="hu-HU" sz="1200" b="0" i="1">
                          <a:effectLst/>
                          <a:latin typeface="Calibri"/>
                        </a:rPr>
                        <a:t>Linux server</a:t>
                      </a:r>
                      <a:r>
                        <a:rPr lang="hu-HU" sz="1200" b="0" i="0" dirty="0">
                          <a:effectLst/>
                          <a:latin typeface="Calibri"/>
                        </a:rPr>
                        <a:t> </a:t>
                      </a:r>
                      <a:endParaRPr lang="hu-HU" b="0" i="0" dirty="0"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25"/>
                        </a:lnSpc>
                        <a:buNone/>
                      </a:pPr>
                      <a:r>
                        <a:rPr lang="hu-HU" sz="1200" b="0" i="0">
                          <a:effectLst/>
                          <a:latin typeface="Calibri" panose="020F0502020204030204" pitchFamily="34" charset="0"/>
                        </a:rPr>
                        <a:t>titok </a:t>
                      </a:r>
                      <a:endParaRPr lang="hu-HU" b="0" i="0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776082"/>
                  </a:ext>
                </a:extLst>
              </a:tr>
            </a:tbl>
          </a:graphicData>
        </a:graphic>
      </p:graphicFrame>
      <p:pic>
        <p:nvPicPr>
          <p:cNvPr id="9" name="Kép 8">
            <a:extLst>
              <a:ext uri="{FF2B5EF4-FFF2-40B4-BE49-F238E27FC236}">
                <a16:creationId xmlns:a16="http://schemas.microsoft.com/office/drawing/2014/main" id="{EFF629EC-50B2-48BD-9263-BAC02A7F0AAE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995210"/>
            <a:ext cx="4450291" cy="3127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Kép 3" descr="A képen szöveg, elektronika, képernyőkép, számítógép látható&#10;&#10;Lehet, hogy az AI által létrehozott tartalom helytelen.">
            <a:extLst>
              <a:ext uri="{FF2B5EF4-FFF2-40B4-BE49-F238E27FC236}">
                <a16:creationId xmlns:a16="http://schemas.microsoft.com/office/drawing/2014/main" id="{8E2F561A-BF50-1711-A5FC-AEA0BDD712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9789" y="3203606"/>
            <a:ext cx="3046257" cy="3018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214091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B5C0D57-FE8B-DDB1-35DE-23D4392A7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>
                <a:ea typeface="+mj-lt"/>
                <a:cs typeface="+mj-lt"/>
              </a:rPr>
              <a:t>EtherChannel</a:t>
            </a:r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2124B69-200B-1A26-95D5-0B53355603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6065520" cy="35661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>
                <a:ea typeface="+mn-lt"/>
                <a:cs typeface="+mn-lt"/>
              </a:rPr>
              <a:t>Két switch között került kialakításra (</a:t>
            </a:r>
            <a:r>
              <a:rPr lang="hu-HU" i="1">
                <a:ea typeface="+mn-lt"/>
                <a:cs typeface="+mn-lt"/>
              </a:rPr>
              <a:t>.1-es háló</a:t>
            </a:r>
            <a:r>
              <a:rPr lang="hu-HU">
                <a:ea typeface="+mn-lt"/>
                <a:cs typeface="+mn-lt"/>
              </a:rPr>
              <a:t>)</a:t>
            </a:r>
            <a:endParaRPr lang="hu-HU"/>
          </a:p>
          <a:p>
            <a:r>
              <a:rPr lang="hu-HU">
                <a:ea typeface="+mn-lt"/>
                <a:cs typeface="+mn-lt"/>
              </a:rPr>
              <a:t>Az </a:t>
            </a:r>
            <a:r>
              <a:rPr lang="hu-HU" b="1" i="1">
                <a:ea typeface="+mn-lt"/>
                <a:cs typeface="+mn-lt"/>
              </a:rPr>
              <a:t>Fa0/7, Fa0/8 és Fa0/9 portok</a:t>
            </a:r>
            <a:r>
              <a:rPr lang="hu-HU">
                <a:ea typeface="+mn-lt"/>
                <a:cs typeface="+mn-lt"/>
              </a:rPr>
              <a:t> összefogásával </a:t>
            </a:r>
            <a:endParaRPr lang="hu-HU"/>
          </a:p>
          <a:p>
            <a:r>
              <a:rPr lang="hu-HU">
                <a:ea typeface="+mn-lt"/>
                <a:cs typeface="+mn-lt"/>
              </a:rPr>
              <a:t>Egyetlen </a:t>
            </a:r>
            <a:r>
              <a:rPr lang="hu-HU" b="1" i="1">
                <a:ea typeface="+mn-lt"/>
                <a:cs typeface="+mn-lt"/>
              </a:rPr>
              <a:t>logikai kapcsolatként működik</a:t>
            </a:r>
            <a:r>
              <a:rPr lang="hu-HU" i="1" dirty="0">
                <a:ea typeface="+mn-lt"/>
                <a:cs typeface="+mn-lt"/>
              </a:rPr>
              <a:t> </a:t>
            </a:r>
            <a:endParaRPr lang="hu-HU" i="1" dirty="0"/>
          </a:p>
          <a:p>
            <a:r>
              <a:rPr lang="hu-HU">
                <a:ea typeface="+mn-lt"/>
                <a:cs typeface="+mn-lt"/>
              </a:rPr>
              <a:t>Növeli a </a:t>
            </a:r>
            <a:r>
              <a:rPr lang="hu-HU" b="1" i="1">
                <a:ea typeface="+mn-lt"/>
                <a:cs typeface="+mn-lt"/>
              </a:rPr>
              <a:t>sávszélességet</a:t>
            </a:r>
            <a:r>
              <a:rPr lang="hu-HU" i="1" dirty="0">
                <a:ea typeface="+mn-lt"/>
                <a:cs typeface="+mn-lt"/>
              </a:rPr>
              <a:t> </a:t>
            </a:r>
            <a:endParaRPr lang="hu-HU" i="1" dirty="0"/>
          </a:p>
          <a:p>
            <a:r>
              <a:rPr lang="hu-HU">
                <a:ea typeface="+mn-lt"/>
                <a:cs typeface="+mn-lt"/>
              </a:rPr>
              <a:t>Javítja a </a:t>
            </a:r>
            <a:r>
              <a:rPr lang="hu-HU" b="1" i="1">
                <a:ea typeface="+mn-lt"/>
                <a:cs typeface="+mn-lt"/>
              </a:rPr>
              <a:t>hálózat rendelkezésre állását</a:t>
            </a:r>
            <a:r>
              <a:rPr lang="hu-HU" i="1" dirty="0">
                <a:ea typeface="+mn-lt"/>
                <a:cs typeface="+mn-lt"/>
              </a:rPr>
              <a:t> </a:t>
            </a:r>
            <a:endParaRPr lang="hu-HU" i="1" dirty="0"/>
          </a:p>
          <a:p>
            <a:r>
              <a:rPr lang="hu-HU">
                <a:ea typeface="+mn-lt"/>
                <a:cs typeface="+mn-lt"/>
              </a:rPr>
              <a:t>Hibatűrőbb kapcsolat (ha egy link kiesik, a többi működik tovább)</a:t>
            </a:r>
            <a:endParaRPr lang="hu-HU"/>
          </a:p>
          <a:p>
            <a:endParaRPr lang="hu-HU" dirty="0"/>
          </a:p>
        </p:txBody>
      </p:sp>
      <p:pic>
        <p:nvPicPr>
          <p:cNvPr id="4" name="Kép 3" descr="A képen képernyőkép, sor, diagram, tervezés látható&#10;&#10;Lehet, hogy az AI által létrehozott tartalom helytelen.">
            <a:extLst>
              <a:ext uri="{FF2B5EF4-FFF2-40B4-BE49-F238E27FC236}">
                <a16:creationId xmlns:a16="http://schemas.microsoft.com/office/drawing/2014/main" id="{25C92F01-0BBB-7822-42DE-0C8E866ED5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5538" y="1056154"/>
            <a:ext cx="5753100" cy="1809750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1B3F66DF-DDF4-486B-9063-20723BF569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2230" y="138860"/>
            <a:ext cx="2276475" cy="495300"/>
          </a:xfrm>
          <a:prstGeom prst="rect">
            <a:avLst/>
          </a:prstGeom>
        </p:spPr>
      </p:pic>
      <p:pic>
        <p:nvPicPr>
          <p:cNvPr id="5" name="Kép 4" descr="A képen szöveg, képernyőkép, Betűtípus látható&#10;&#10;Lehet, hogy az AI által létrehozott tartalom helytelen.">
            <a:extLst>
              <a:ext uri="{FF2B5EF4-FFF2-40B4-BE49-F238E27FC236}">
                <a16:creationId xmlns:a16="http://schemas.microsoft.com/office/drawing/2014/main" id="{EC25B268-8AE1-A0CC-0366-A253D4D6A44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75" t="80882" r="-1170" b="-368"/>
          <a:stretch>
            <a:fillRect/>
          </a:stretch>
        </p:blipFill>
        <p:spPr>
          <a:xfrm>
            <a:off x="6301068" y="3597087"/>
            <a:ext cx="5764318" cy="593915"/>
          </a:xfrm>
          <a:prstGeom prst="rect">
            <a:avLst/>
          </a:prstGeom>
        </p:spPr>
      </p:pic>
      <p:pic>
        <p:nvPicPr>
          <p:cNvPr id="7" name="Kép 6" descr="A képen szöveg, képernyőkép, Betűtípus, szoftver látható&#10;&#10;Lehet, hogy az AI által létrehozott tartalom helytelen.">
            <a:extLst>
              <a:ext uri="{FF2B5EF4-FFF2-40B4-BE49-F238E27FC236}">
                <a16:creationId xmlns:a16="http://schemas.microsoft.com/office/drawing/2014/main" id="{9FA8FBA6-001F-6768-C711-CE8EF1E9A42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82779" r="-274" b="-377"/>
          <a:stretch>
            <a:fillRect/>
          </a:stretch>
        </p:blipFill>
        <p:spPr>
          <a:xfrm>
            <a:off x="6301067" y="4412476"/>
            <a:ext cx="5768869" cy="590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315860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DBA5068-17DA-CD89-8DC2-6179D38CB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HomeRouter és a VoIP Phone-ok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032DB2B-7048-CE30-DA0B-692DCA4538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7820516" cy="387992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>
                <a:ea typeface="+mn-lt"/>
                <a:cs typeface="+mn-lt"/>
              </a:rPr>
              <a:t>HomeRouter biztosítja a vezeték nélküli hálózatot (</a:t>
            </a:r>
            <a:r>
              <a:rPr lang="hu-HU" i="1">
                <a:ea typeface="+mn-lt"/>
                <a:cs typeface="+mn-lt"/>
              </a:rPr>
              <a:t>.100-as háló</a:t>
            </a:r>
            <a:r>
              <a:rPr lang="hu-HU">
                <a:ea typeface="+mn-lt"/>
                <a:cs typeface="+mn-lt"/>
              </a:rPr>
              <a:t>)</a:t>
            </a:r>
            <a:endParaRPr lang="hu-HU"/>
          </a:p>
          <a:p>
            <a:r>
              <a:rPr lang="hu-HU">
                <a:ea typeface="+mn-lt"/>
                <a:cs typeface="+mn-lt"/>
              </a:rPr>
              <a:t>Wi-Fi védelem: </a:t>
            </a:r>
            <a:r>
              <a:rPr lang="hu-HU" b="1" i="1">
                <a:ea typeface="+mn-lt"/>
                <a:cs typeface="+mn-lt"/>
              </a:rPr>
              <a:t>WPA2-PSK titkosítás </a:t>
            </a:r>
          </a:p>
          <a:p>
            <a:r>
              <a:rPr lang="hu-HU">
                <a:ea typeface="+mn-lt"/>
                <a:cs typeface="+mn-lt"/>
              </a:rPr>
              <a:t>Hozzáférés jelszóval védett (</a:t>
            </a:r>
            <a:r>
              <a:rPr lang="hu-HU" b="1" i="1">
                <a:ea typeface="+mn-lt"/>
                <a:cs typeface="+mn-lt"/>
              </a:rPr>
              <a:t>Varoterem </a:t>
            </a:r>
            <a:r>
              <a:rPr lang="hu-HU">
                <a:ea typeface="+mn-lt"/>
                <a:cs typeface="+mn-lt"/>
              </a:rPr>
              <a:t>/ </a:t>
            </a:r>
            <a:r>
              <a:rPr lang="hu-HU" b="1" i="1">
                <a:highlight>
                  <a:srgbClr val="FFFFFF"/>
                </a:highlight>
                <a:latin typeface="Grandview Display"/>
                <a:ea typeface="Calibri"/>
                <a:cs typeface="Calibri"/>
              </a:rPr>
              <a:t>Wifijelszo1</a:t>
            </a:r>
            <a:r>
              <a:rPr lang="hu-HU">
                <a:ea typeface="+mn-lt"/>
                <a:cs typeface="+mn-lt"/>
              </a:rPr>
              <a:t>)</a:t>
            </a:r>
          </a:p>
          <a:p>
            <a:r>
              <a:rPr lang="hu-HU" b="1" i="1">
                <a:ea typeface="+mn-lt"/>
                <a:cs typeface="+mn-lt"/>
              </a:rPr>
              <a:t>Home VoIP IP Phone</a:t>
            </a:r>
            <a:r>
              <a:rPr lang="hu-HU">
                <a:ea typeface="+mn-lt"/>
                <a:cs typeface="+mn-lt"/>
              </a:rPr>
              <a:t> jelen van a hálózatban </a:t>
            </a:r>
            <a:endParaRPr lang="hu-HU"/>
          </a:p>
          <a:p>
            <a:r>
              <a:rPr lang="hu-HU">
                <a:ea typeface="+mn-lt"/>
                <a:cs typeface="+mn-lt"/>
              </a:rPr>
              <a:t>Kommunikáció a </a:t>
            </a:r>
            <a:r>
              <a:rPr lang="hu-HU" i="1">
                <a:ea typeface="+mn-lt"/>
                <a:cs typeface="+mn-lt"/>
              </a:rPr>
              <a:t>.10-es</a:t>
            </a:r>
            <a:r>
              <a:rPr lang="hu-HU">
                <a:ea typeface="+mn-lt"/>
                <a:cs typeface="+mn-lt"/>
              </a:rPr>
              <a:t> hálózatban lévő VoIP telefonnal </a:t>
            </a:r>
            <a:endParaRPr lang="hu-HU"/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27FCE7D0-0B63-A651-5550-815AB8FD92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4242" y="641537"/>
            <a:ext cx="2488827" cy="5576047"/>
          </a:xfrm>
          <a:prstGeom prst="rect">
            <a:avLst/>
          </a:prstGeom>
        </p:spPr>
      </p:pic>
      <p:sp>
        <p:nvSpPr>
          <p:cNvPr id="9" name="Szövegdoboz 8">
            <a:extLst>
              <a:ext uri="{FF2B5EF4-FFF2-40B4-BE49-F238E27FC236}">
                <a16:creationId xmlns:a16="http://schemas.microsoft.com/office/drawing/2014/main" id="{5E552503-1734-7764-F9DB-75F7EFF71941}"/>
              </a:ext>
            </a:extLst>
          </p:cNvPr>
          <p:cNvSpPr txBox="1"/>
          <p:nvPr/>
        </p:nvSpPr>
        <p:spPr>
          <a:xfrm>
            <a:off x="8357939" y="6291885"/>
            <a:ext cx="3458034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1600" i="1">
                <a:solidFill>
                  <a:schemeClr val="tx1">
                    <a:lumMod val="76000"/>
                    <a:lumOff val="24000"/>
                  </a:schemeClr>
                </a:solidFill>
              </a:rPr>
              <a:t>Képernyőfotó a Wi-Fi kapcsolatról</a:t>
            </a:r>
            <a:endParaRPr lang="hu-HU"/>
          </a:p>
        </p:txBody>
      </p:sp>
      <p:graphicFrame>
        <p:nvGraphicFramePr>
          <p:cNvPr id="6" name="Táblázat 5">
            <a:extLst>
              <a:ext uri="{FF2B5EF4-FFF2-40B4-BE49-F238E27FC236}">
                <a16:creationId xmlns:a16="http://schemas.microsoft.com/office/drawing/2014/main" id="{173B5A42-7936-7891-3DD0-46B71C04AF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6969654"/>
              </p:ext>
            </p:extLst>
          </p:nvPr>
        </p:nvGraphicFramePr>
        <p:xfrm>
          <a:off x="911363" y="5307624"/>
          <a:ext cx="5753100" cy="52920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876550">
                  <a:extLst>
                    <a:ext uri="{9D8B030D-6E8A-4147-A177-3AD203B41FA5}">
                      <a16:colId xmlns:a16="http://schemas.microsoft.com/office/drawing/2014/main" val="2105915307"/>
                    </a:ext>
                  </a:extLst>
                </a:gridCol>
                <a:gridCol w="2876550">
                  <a:extLst>
                    <a:ext uri="{9D8B030D-6E8A-4147-A177-3AD203B41FA5}">
                      <a16:colId xmlns:a16="http://schemas.microsoft.com/office/drawing/2014/main" val="938964034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25"/>
                        </a:lnSpc>
                        <a:buNone/>
                      </a:pPr>
                      <a:r>
                        <a:rPr lang="hu-HU" sz="1200" b="1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Név</a:t>
                      </a:r>
                      <a:r>
                        <a:rPr lang="hu-HU" sz="12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  <a:endParaRPr lang="hu-HU" b="0" i="0" dirty="0"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25"/>
                        </a:lnSpc>
                        <a:buNone/>
                      </a:pPr>
                      <a:r>
                        <a:rPr lang="hu-HU" sz="1200" b="1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Jelszó</a:t>
                      </a:r>
                      <a:r>
                        <a:rPr lang="hu-HU" sz="12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  <a:endParaRPr lang="hu-HU" b="0" i="0" dirty="0"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50254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hu-HU" sz="1050" b="0" i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Varoterem</a:t>
                      </a:r>
                      <a:r>
                        <a:rPr lang="hu-HU" sz="105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  <a:endParaRPr lang="hu-HU" b="0" i="0" dirty="0"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hu-HU" sz="1050" b="0" i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wifijelszo1</a:t>
                      </a:r>
                      <a:r>
                        <a:rPr lang="hu-HU" sz="1050" b="0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  <a:endParaRPr lang="hu-HU" b="0" i="0" dirty="0"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2039297"/>
                  </a:ext>
                </a:extLst>
              </a:tr>
            </a:tbl>
          </a:graphicData>
        </a:graphic>
      </p:graphicFrame>
      <p:pic>
        <p:nvPicPr>
          <p:cNvPr id="8" name="Kép 7">
            <a:extLst>
              <a:ext uri="{FF2B5EF4-FFF2-40B4-BE49-F238E27FC236}">
                <a16:creationId xmlns:a16="http://schemas.microsoft.com/office/drawing/2014/main" id="{F617FC7F-DDA6-49CE-9DE2-9058C89819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2230" y="138860"/>
            <a:ext cx="2276475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659386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909021" y="1306606"/>
            <a:ext cx="6980274" cy="2996649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hu-HU" sz="6600">
                <a:ea typeface="+mj-lt"/>
                <a:cs typeface="+mj-lt"/>
              </a:rPr>
              <a:t>Köszönjük a figyelmet! </a:t>
            </a:r>
            <a:endParaRPr lang="hu-HU" sz="6600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909021" y="5114033"/>
            <a:ext cx="10431686" cy="950275"/>
          </a:xfrm>
        </p:spPr>
        <p:txBody>
          <a:bodyPr anchor="t">
            <a:normAutofit/>
          </a:bodyPr>
          <a:lstStyle/>
          <a:p>
            <a:r>
              <a:rPr lang="hu-HU">
                <a:latin typeface="Arial"/>
                <a:cs typeface="Arial"/>
              </a:rPr>
              <a:t>Készítette:</a:t>
            </a:r>
            <a:r>
              <a:rPr lang="hu-HU" b="0">
                <a:latin typeface="Arial"/>
                <a:cs typeface="Arial"/>
              </a:rPr>
              <a:t> Balta gergő, kopácsi máté, léman gergő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1876C053-46F1-4B98-B447-306C45E9A8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2230" y="138860"/>
            <a:ext cx="2276475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517060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DashVTI">
  <a:themeElements>
    <a:clrScheme name="DashVTI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DashVTI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Dash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E0E31462-65AE-4087-9B94-B3347EE711B2}" vid="{CA8B31CB-369F-4872-A917-A9EAAF91827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809</Words>
  <Application>Microsoft Office PowerPoint</Application>
  <PresentationFormat>Szélesvásznú</PresentationFormat>
  <Paragraphs>120</Paragraphs>
  <Slides>16</Slides>
  <Notes>0</Notes>
  <HiddenSlides>0</HiddenSlides>
  <MMClips>0</MMClip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16</vt:i4>
      </vt:variant>
    </vt:vector>
  </HeadingPairs>
  <TitlesOfParts>
    <vt:vector size="17" baseType="lpstr">
      <vt:lpstr>DashVTI</vt:lpstr>
      <vt:lpstr>Horizont Utazási Iroda hálózati terv</vt:lpstr>
      <vt:lpstr>Rólunk</vt:lpstr>
      <vt:lpstr> </vt:lpstr>
      <vt:lpstr>PowerPoint-bemutató</vt:lpstr>
      <vt:lpstr>Eszközeink</vt:lpstr>
      <vt:lpstr>Az útválasztás</vt:lpstr>
      <vt:lpstr>VLAN</vt:lpstr>
      <vt:lpstr>DHCP szerver Windows szerver</vt:lpstr>
      <vt:lpstr>DNS szerver Windows szerver</vt:lpstr>
      <vt:lpstr>További szolgáltatások Windows szerver</vt:lpstr>
      <vt:lpstr>További szolgáltatások Windows szerver</vt:lpstr>
      <vt:lpstr>PowerPoint-bemutató</vt:lpstr>
      <vt:lpstr>File szerver Linux szerver</vt:lpstr>
      <vt:lpstr>EtherChannel</vt:lpstr>
      <vt:lpstr>HomeRouter és a VoIP Phone-ok</vt:lpstr>
      <vt:lpstr>Köszönjük a figyelmet!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Horizont Utazási Iroda hálózati terv</dc:title>
  <dc:creator>13I</dc:creator>
  <cp:lastModifiedBy>13I</cp:lastModifiedBy>
  <cp:revision>767</cp:revision>
  <dcterms:created xsi:type="dcterms:W3CDTF">2026-04-04T07:34:24Z</dcterms:created>
  <dcterms:modified xsi:type="dcterms:W3CDTF">2026-05-25T11:55:36Z</dcterms:modified>
</cp:coreProperties>
</file>